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cold, no apology: 'Everyone says they use AI to write code. Almost nobody can tell you how much, whether quality held, or where the project actually is.' Then give the shape of the talk in one breath - four layers, each one making the next one possible. The rules are worthless if nothing enforces them; the enforcement is unprovable if nothing measures it. ~1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this - the whole deck is the answer to these three. Say plainly that we had all three. The last line is the hinge: everything after this is the consequence of moving the workflow out of people's heads and into files that tools can read. ~2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 point at each row, do not read it. The right-hand column is the part worth saying out loud, because it is the 'so what' for each layer. If you only have ten minutes, this slide plus slide 6 and slide 13 is the talk. ~2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to land: onboarding used to be a person explaining the workflow; now the workflow arrives with the tool. A new joiner's first session already follows the house process, because the process is loaded before they type anything. Mention the per-language overlays only if someone asks. ~2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gets a laugh and it should - v1 genuinely did dispatch a planning agent to change a colour value. Say it against yourself; it buys credibility for the rest. The escape hatch is the part engineers in the room will recognise as real: the sunk-cost trap of having already started down the cheap route. ~2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on step 0 and step 2. Step 0 exists because an unwritten skill check is a skipped one - if it is not in the transcript the process did not start. Step 2 is the single sentence to repeat in Q&amp;A: the agent does the work, a human still owns the decision. That is the whole safety argument. ~2.5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slide - cut it first if you are short. But it is the one that convinces a sceptical engineer, because it shows the process is under version control and under criticism, not handed down. The TypeSafe demotion is the strongest example: we measured that a step never fired, and removed it. ~1.5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separates 'we use AI' from 'we run AI as an engineering discipline'. The 48k number is the one people remember - it is why you do not spawn an agent to read one file. Say the wall-clock line explicitly: parallelism here is a scheduling decision, not a cost saving. ~1.5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distinction in the dark panel is the heart of the talk and worth saying twice: we stopped prompting the agent to behave and started making the behaviour a precondition of working in the repo. Note that these rules bind the human too - nobody gets to push to main either. ~2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client audience this is often the strongest slide - it is the compliance answer. Show the real folder on screen if you can: five branches, real timestamps. The point is not that we document tests; it is that documenting them is not a separate act of discipline that can be skipped. ~2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footnote out loud before anyone finds it - volunteering a limitation is the cheapest credibility in the room. The last line pre-empts the 'so you don't trust the AI' question: nobody pushes to main, agent or human. The gate does not know which one you are. ~1.5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room is technical, run demo 1 live instead of showing this slide - the moment the agent stops and waits for approval is more persuasive than any bullet. If you are short on time or the network is unreliable, this slide covers it. The rejected push in demo 2 is the single most memorable five seconds of the session. ~1.5 min, or ~10 min if run live.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promise: the tracked repos change nothing. That removes the main objection before it is raised. The two honesty mechanisms in the middle row are what make the numbers usable - a system that flags its own weak evidence is one you can actually argue with. ~2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driving analogy does the work - L2 is cruise control with your hands still on the wheel; L3 is the car driving while you stay ready for the handover. The last line matters for this audience: we are not trying to reach L5. L3 with a real human checkpoint is the target, and the dashboard measures whether we are actually there. ~2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narrate five tabs - open the real thing and click. If you are presenting to an external audience, use demo mode and say so in the first sentence: the badge is on screen anyway, and owning it up front means it never becomes a question. The plan.md option is the one that lands with small teams who will not adopt issues. ~2 min, or longer if clicking live.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dark bar and say it slowly - it is the one sentence you want people to leave with. Expect three questions and have them ready: 'can it be gamed?' (yes, partly - cross-checks catch inflation, the norm does the rest), 'does it work on private repos?' (yes, with a read-only token; the branch ruleset needs a paid plan), and 'is this measuring people?' (no - it measures how work gets done, and it is for understanding, not appraisal). Say that last one before anyone asks.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1938528"/>
            <a:ext cx="10058400" cy="457200"/>
          </a:xfrm>
          <a:prstGeom prst="rect">
            <a:avLst/>
          </a:prstGeom>
          <a:noFill/>
        </p:spPr>
        <p:txBody>
          <a:bodyPr wrap="square" anchor="t" lIns="0" rIns="0" tIns="0" bIns="0">
            <a:spAutoFit/>
          </a:bodyPr>
          <a:lstStyle/>
          <a:p>
            <a:pPr algn="l"/>
            <a:r>
              <a:rPr sz="1500" b="1">
                <a:solidFill>
                  <a:srgbClr val="3D67B1"/>
                </a:solidFill>
                <a:latin typeface="Consolas"/>
              </a:rPr>
              <a:t>AI-NATIVE DEVELOPMENT</a:t>
            </a:r>
          </a:p>
        </p:txBody>
      </p:sp>
      <p:sp>
        <p:nvSpPr>
          <p:cNvPr id="3" name="TextBox 2"/>
          <p:cNvSpPr txBox="1"/>
          <p:nvPr/>
        </p:nvSpPr>
        <p:spPr>
          <a:xfrm>
            <a:off x="594360" y="2340864"/>
            <a:ext cx="10927080" cy="1188720"/>
          </a:xfrm>
          <a:prstGeom prst="rect">
            <a:avLst/>
          </a:prstGeom>
          <a:noFill/>
        </p:spPr>
        <p:txBody>
          <a:bodyPr wrap="square" anchor="t" lIns="0" rIns="0" tIns="0" bIns="0">
            <a:spAutoFit/>
          </a:bodyPr>
          <a:lstStyle/>
          <a:p>
            <a:pPr algn="l">
              <a:lnSpc>
                <a:spcPct val="108000"/>
              </a:lnSpc>
            </a:pPr>
            <a:r>
              <a:rPr sz="4000" b="1">
                <a:solidFill>
                  <a:srgbClr val="1F1F1C"/>
                </a:solidFill>
                <a:latin typeface="Segoe UI"/>
              </a:rPr>
              <a:t>From workflow, to enforcement, to management</a:t>
            </a:r>
          </a:p>
        </p:txBody>
      </p:sp>
      <p:sp>
        <p:nvSpPr>
          <p:cNvPr id="4" name="TextBox 3"/>
          <p:cNvSpPr txBox="1"/>
          <p:nvPr/>
        </p:nvSpPr>
        <p:spPr>
          <a:xfrm>
            <a:off x="594360" y="3712463"/>
            <a:ext cx="9692640" cy="457200"/>
          </a:xfrm>
          <a:prstGeom prst="rect">
            <a:avLst/>
          </a:prstGeom>
          <a:noFill/>
        </p:spPr>
        <p:txBody>
          <a:bodyPr wrap="square" anchor="t" lIns="0" rIns="0" tIns="0" bIns="0">
            <a:spAutoFit/>
          </a:bodyPr>
          <a:lstStyle/>
          <a:p>
            <a:pPr algn="l"/>
            <a:r>
              <a:rPr sz="1500" b="0">
                <a:solidFill>
                  <a:srgbClr val="66665F"/>
                </a:solidFill>
                <a:latin typeface="Segoe UI"/>
              </a:rPr>
              <a:t>How we turned a way of working into rules a machine has to follow — and into numbers a manager can read</a:t>
            </a:r>
          </a:p>
        </p:txBody>
      </p:sp>
      <p:sp>
        <p:nvSpPr>
          <p:cNvPr id="5" name="Rectangle 4"/>
          <p:cNvSpPr/>
          <p:nvPr/>
        </p:nvSpPr>
        <p:spPr>
          <a:xfrm>
            <a:off x="594360" y="4608576"/>
            <a:ext cx="530352" cy="365760"/>
          </a:xfrm>
          <a:prstGeom prst="rect">
            <a:avLst/>
          </a:prstGeom>
          <a:solidFill>
            <a:srgbClr val="8FA8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608576"/>
            <a:ext cx="530352" cy="365760"/>
          </a:xfrm>
          <a:prstGeom prst="rect">
            <a:avLst/>
          </a:prstGeom>
          <a:noFill/>
        </p:spPr>
        <p:txBody>
          <a:bodyPr wrap="square" anchor="ctr" lIns="0" rIns="0" tIns="0" bIns="0">
            <a:spAutoFit/>
          </a:bodyPr>
          <a:lstStyle/>
          <a:p>
            <a:pPr algn="ctr"/>
            <a:r>
              <a:rPr sz="1500" b="1">
                <a:solidFill>
                  <a:srgbClr val="FFFFFF"/>
                </a:solidFill>
                <a:latin typeface="Consolas"/>
              </a:rPr>
              <a:t>01</a:t>
            </a:r>
          </a:p>
        </p:txBody>
      </p:sp>
      <p:sp>
        <p:nvSpPr>
          <p:cNvPr id="7" name="TextBox 6"/>
          <p:cNvSpPr txBox="1"/>
          <p:nvPr/>
        </p:nvSpPr>
        <p:spPr>
          <a:xfrm>
            <a:off x="1252728" y="4572000"/>
            <a:ext cx="2057400" cy="256032"/>
          </a:xfrm>
          <a:prstGeom prst="rect">
            <a:avLst/>
          </a:prstGeom>
          <a:noFill/>
        </p:spPr>
        <p:txBody>
          <a:bodyPr wrap="square" anchor="t" lIns="0" rIns="0" tIns="0" bIns="0">
            <a:spAutoFit/>
          </a:bodyPr>
          <a:lstStyle/>
          <a:p>
            <a:pPr algn="l"/>
            <a:r>
              <a:rPr sz="1200" b="1">
                <a:solidFill>
                  <a:srgbClr val="1F1F1C"/>
                </a:solidFill>
                <a:latin typeface="Consolas"/>
              </a:rPr>
              <a:t>THE WORKFLOW</a:t>
            </a:r>
          </a:p>
        </p:txBody>
      </p:sp>
      <p:sp>
        <p:nvSpPr>
          <p:cNvPr id="8" name="TextBox 7"/>
          <p:cNvSpPr txBox="1"/>
          <p:nvPr/>
        </p:nvSpPr>
        <p:spPr>
          <a:xfrm>
            <a:off x="1252728" y="4809744"/>
            <a:ext cx="2057400" cy="457200"/>
          </a:xfrm>
          <a:prstGeom prst="rect">
            <a:avLst/>
          </a:prstGeom>
          <a:noFill/>
        </p:spPr>
        <p:txBody>
          <a:bodyPr wrap="square" anchor="t" lIns="0" rIns="0" tIns="0" bIns="0">
            <a:spAutoFit/>
          </a:bodyPr>
          <a:lstStyle/>
          <a:p>
            <a:pPr algn="l"/>
            <a:r>
              <a:rPr sz="1150" b="0">
                <a:solidFill>
                  <a:srgbClr val="9A9A93"/>
                </a:solidFill>
                <a:latin typeface="Segoe UI"/>
              </a:rPr>
              <a:t>what good work looks like</a:t>
            </a:r>
          </a:p>
        </p:txBody>
      </p:sp>
      <p:sp>
        <p:nvSpPr>
          <p:cNvPr id="9" name="Rectangle 8"/>
          <p:cNvSpPr/>
          <p:nvPr/>
        </p:nvSpPr>
        <p:spPr>
          <a:xfrm>
            <a:off x="3355848" y="4608576"/>
            <a:ext cx="530352" cy="365760"/>
          </a:xfrm>
          <a:prstGeom prst="rect">
            <a:avLst/>
          </a:prstGeom>
          <a:solidFill>
            <a:srgbClr val="5F8C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55848" y="4608576"/>
            <a:ext cx="530352" cy="365760"/>
          </a:xfrm>
          <a:prstGeom prst="rect">
            <a:avLst/>
          </a:prstGeom>
          <a:noFill/>
        </p:spPr>
        <p:txBody>
          <a:bodyPr wrap="square" anchor="ctr" lIns="0" rIns="0" tIns="0" bIns="0">
            <a:spAutoFit/>
          </a:bodyPr>
          <a:lstStyle/>
          <a:p>
            <a:pPr algn="ctr"/>
            <a:r>
              <a:rPr sz="1500" b="1">
                <a:solidFill>
                  <a:srgbClr val="FFFFFF"/>
                </a:solidFill>
                <a:latin typeface="Consolas"/>
              </a:rPr>
              <a:t>02</a:t>
            </a:r>
          </a:p>
        </p:txBody>
      </p:sp>
      <p:sp>
        <p:nvSpPr>
          <p:cNvPr id="11" name="TextBox 10"/>
          <p:cNvSpPr txBox="1"/>
          <p:nvPr/>
        </p:nvSpPr>
        <p:spPr>
          <a:xfrm>
            <a:off x="4014215" y="4572000"/>
            <a:ext cx="2057400" cy="256032"/>
          </a:xfrm>
          <a:prstGeom prst="rect">
            <a:avLst/>
          </a:prstGeom>
          <a:noFill/>
        </p:spPr>
        <p:txBody>
          <a:bodyPr wrap="square" anchor="t" lIns="0" rIns="0" tIns="0" bIns="0">
            <a:spAutoFit/>
          </a:bodyPr>
          <a:lstStyle/>
          <a:p>
            <a:pPr algn="l"/>
            <a:r>
              <a:rPr sz="1200" b="1">
                <a:solidFill>
                  <a:srgbClr val="1F1F1C"/>
                </a:solidFill>
                <a:latin typeface="Consolas"/>
              </a:rPr>
              <a:t>THE RULES</a:t>
            </a:r>
          </a:p>
        </p:txBody>
      </p:sp>
      <p:sp>
        <p:nvSpPr>
          <p:cNvPr id="12" name="TextBox 11"/>
          <p:cNvSpPr txBox="1"/>
          <p:nvPr/>
        </p:nvSpPr>
        <p:spPr>
          <a:xfrm>
            <a:off x="4014215" y="4809744"/>
            <a:ext cx="2057400" cy="457200"/>
          </a:xfrm>
          <a:prstGeom prst="rect">
            <a:avLst/>
          </a:prstGeom>
          <a:noFill/>
        </p:spPr>
        <p:txBody>
          <a:bodyPr wrap="square" anchor="t" lIns="0" rIns="0" tIns="0" bIns="0">
            <a:spAutoFit/>
          </a:bodyPr>
          <a:lstStyle/>
          <a:p>
            <a:pPr algn="l"/>
            <a:r>
              <a:rPr sz="1150" b="0">
                <a:solidFill>
                  <a:srgbClr val="9A9A93"/>
                </a:solidFill>
                <a:latin typeface="Segoe UI"/>
              </a:rPr>
              <a:t>the agent cannot skip it</a:t>
            </a:r>
          </a:p>
        </p:txBody>
      </p:sp>
      <p:sp>
        <p:nvSpPr>
          <p:cNvPr id="13" name="Rectangle 12"/>
          <p:cNvSpPr/>
          <p:nvPr/>
        </p:nvSpPr>
        <p:spPr>
          <a:xfrm>
            <a:off x="6117336" y="4608576"/>
            <a:ext cx="530352" cy="365760"/>
          </a:xfrm>
          <a:prstGeom prst="rect">
            <a:avLst/>
          </a:prstGeom>
          <a:solidFill>
            <a:srgbClr val="3D67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17336" y="4608576"/>
            <a:ext cx="530352" cy="365760"/>
          </a:xfrm>
          <a:prstGeom prst="rect">
            <a:avLst/>
          </a:prstGeom>
          <a:noFill/>
        </p:spPr>
        <p:txBody>
          <a:bodyPr wrap="square" anchor="ctr" lIns="0" rIns="0" tIns="0" bIns="0">
            <a:spAutoFit/>
          </a:bodyPr>
          <a:lstStyle/>
          <a:p>
            <a:pPr algn="ctr"/>
            <a:r>
              <a:rPr sz="1500" b="1">
                <a:solidFill>
                  <a:srgbClr val="FFFFFF"/>
                </a:solidFill>
                <a:latin typeface="Consolas"/>
              </a:rPr>
              <a:t>03</a:t>
            </a:r>
          </a:p>
        </p:txBody>
      </p:sp>
      <p:sp>
        <p:nvSpPr>
          <p:cNvPr id="15" name="TextBox 14"/>
          <p:cNvSpPr txBox="1"/>
          <p:nvPr/>
        </p:nvSpPr>
        <p:spPr>
          <a:xfrm>
            <a:off x="6775703" y="4572000"/>
            <a:ext cx="2057400" cy="256032"/>
          </a:xfrm>
          <a:prstGeom prst="rect">
            <a:avLst/>
          </a:prstGeom>
          <a:noFill/>
        </p:spPr>
        <p:txBody>
          <a:bodyPr wrap="square" anchor="t" lIns="0" rIns="0" tIns="0" bIns="0">
            <a:spAutoFit/>
          </a:bodyPr>
          <a:lstStyle/>
          <a:p>
            <a:pPr algn="l"/>
            <a:r>
              <a:rPr sz="1200" b="1">
                <a:solidFill>
                  <a:srgbClr val="1F1F1C"/>
                </a:solidFill>
                <a:latin typeface="Consolas"/>
              </a:rPr>
              <a:t>THE GATE</a:t>
            </a:r>
          </a:p>
        </p:txBody>
      </p:sp>
      <p:sp>
        <p:nvSpPr>
          <p:cNvPr id="16" name="TextBox 15"/>
          <p:cNvSpPr txBox="1"/>
          <p:nvPr/>
        </p:nvSpPr>
        <p:spPr>
          <a:xfrm>
            <a:off x="6775703" y="4809744"/>
            <a:ext cx="2057400" cy="457200"/>
          </a:xfrm>
          <a:prstGeom prst="rect">
            <a:avLst/>
          </a:prstGeom>
          <a:noFill/>
        </p:spPr>
        <p:txBody>
          <a:bodyPr wrap="square" anchor="t" lIns="0" rIns="0" tIns="0" bIns="0">
            <a:spAutoFit/>
          </a:bodyPr>
          <a:lstStyle/>
          <a:p>
            <a:pPr algn="l"/>
            <a:r>
              <a:rPr sz="1150" b="0">
                <a:solidFill>
                  <a:srgbClr val="9A9A93"/>
                </a:solidFill>
                <a:latin typeface="Segoe UI"/>
              </a:rPr>
              <a:t>GitHub will not let it through</a:t>
            </a:r>
          </a:p>
        </p:txBody>
      </p:sp>
      <p:sp>
        <p:nvSpPr>
          <p:cNvPr id="17" name="Rectangle 16"/>
          <p:cNvSpPr/>
          <p:nvPr/>
        </p:nvSpPr>
        <p:spPr>
          <a:xfrm>
            <a:off x="8878824" y="4608576"/>
            <a:ext cx="530352" cy="365760"/>
          </a:xfrm>
          <a:prstGeom prst="rect">
            <a:avLst/>
          </a:prstGeom>
          <a:solidFill>
            <a:srgbClr val="244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78824" y="4608576"/>
            <a:ext cx="530352" cy="365760"/>
          </a:xfrm>
          <a:prstGeom prst="rect">
            <a:avLst/>
          </a:prstGeom>
          <a:noFill/>
        </p:spPr>
        <p:txBody>
          <a:bodyPr wrap="square" anchor="ctr" lIns="0" rIns="0" tIns="0" bIns="0">
            <a:spAutoFit/>
          </a:bodyPr>
          <a:lstStyle/>
          <a:p>
            <a:pPr algn="ctr"/>
            <a:r>
              <a:rPr sz="1500" b="1">
                <a:solidFill>
                  <a:srgbClr val="FFFFFF"/>
                </a:solidFill>
                <a:latin typeface="Consolas"/>
              </a:rPr>
              <a:t>04</a:t>
            </a:r>
          </a:p>
        </p:txBody>
      </p:sp>
      <p:sp>
        <p:nvSpPr>
          <p:cNvPr id="19" name="TextBox 18"/>
          <p:cNvSpPr txBox="1"/>
          <p:nvPr/>
        </p:nvSpPr>
        <p:spPr>
          <a:xfrm>
            <a:off x="9537192" y="4572000"/>
            <a:ext cx="2057400" cy="256032"/>
          </a:xfrm>
          <a:prstGeom prst="rect">
            <a:avLst/>
          </a:prstGeom>
          <a:noFill/>
        </p:spPr>
        <p:txBody>
          <a:bodyPr wrap="square" anchor="t" lIns="0" rIns="0" tIns="0" bIns="0">
            <a:spAutoFit/>
          </a:bodyPr>
          <a:lstStyle/>
          <a:p>
            <a:pPr algn="l"/>
            <a:r>
              <a:rPr sz="1200" b="1">
                <a:solidFill>
                  <a:srgbClr val="1F1F1C"/>
                </a:solidFill>
                <a:latin typeface="Consolas"/>
              </a:rPr>
              <a:t>THE DASHBOARD</a:t>
            </a:r>
          </a:p>
        </p:txBody>
      </p:sp>
      <p:sp>
        <p:nvSpPr>
          <p:cNvPr id="20" name="TextBox 19"/>
          <p:cNvSpPr txBox="1"/>
          <p:nvPr/>
        </p:nvSpPr>
        <p:spPr>
          <a:xfrm>
            <a:off x="9537192" y="4809744"/>
            <a:ext cx="2057400" cy="457200"/>
          </a:xfrm>
          <a:prstGeom prst="rect">
            <a:avLst/>
          </a:prstGeom>
          <a:noFill/>
        </p:spPr>
        <p:txBody>
          <a:bodyPr wrap="square" anchor="t" lIns="0" rIns="0" tIns="0" bIns="0">
            <a:spAutoFit/>
          </a:bodyPr>
          <a:lstStyle/>
          <a:p>
            <a:pPr algn="l"/>
            <a:r>
              <a:rPr sz="1150" b="0">
                <a:solidFill>
                  <a:srgbClr val="9A9A93"/>
                </a:solidFill>
                <a:latin typeface="Segoe UI"/>
              </a:rPr>
              <a:t>we can see whether it held</a:t>
            </a:r>
          </a:p>
        </p:txBody>
      </p:sp>
      <p:sp>
        <p:nvSpPr>
          <p:cNvPr id="21" name="Rectangle 20"/>
          <p:cNvSpPr/>
          <p:nvPr/>
        </p:nvSpPr>
        <p:spPr>
          <a:xfrm>
            <a:off x="594360" y="5760720"/>
            <a:ext cx="11000232"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5961888"/>
            <a:ext cx="11000232" cy="365760"/>
          </a:xfrm>
          <a:prstGeom prst="rect">
            <a:avLst/>
          </a:prstGeom>
          <a:noFill/>
        </p:spPr>
        <p:txBody>
          <a:bodyPr wrap="square" anchor="t" lIns="0" rIns="0" tIns="0" bIns="0">
            <a:spAutoFit/>
          </a:bodyPr>
          <a:lstStyle/>
          <a:p>
            <a:pPr algn="l"/>
            <a:r>
              <a:rPr sz="1150" b="0">
                <a:solidFill>
                  <a:srgbClr val="9A9A93"/>
                </a:solidFill>
                <a:latin typeface="Consolas"/>
              </a:rPr>
              <a:t>ManagementDashboard  ·  AIFlowTesting  ·  Wing  ·  2026-09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Three gaps — and none of them are about the AI</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The tooling was never the bottleneck. Consistency was.</a:t>
            </a:r>
          </a:p>
        </p:txBody>
      </p:sp>
      <p:sp>
        <p:nvSpPr>
          <p:cNvPr id="4" name="Rectangle 3"/>
          <p:cNvSpPr/>
          <p:nvPr/>
        </p:nvSpPr>
        <p:spPr>
          <a:xfrm>
            <a:off x="594360" y="1828800"/>
            <a:ext cx="3474720" cy="3931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103120"/>
            <a:ext cx="475488" cy="347472"/>
          </a:xfrm>
          <a:prstGeom prst="rect">
            <a:avLst/>
          </a:prstGeom>
          <a:solidFill>
            <a:srgbClr val="8FA8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03120"/>
            <a:ext cx="475488" cy="347472"/>
          </a:xfrm>
          <a:prstGeom prst="rect">
            <a:avLst/>
          </a:prstGeom>
          <a:noFill/>
        </p:spPr>
        <p:txBody>
          <a:bodyPr wrap="square" anchor="ctr" lIns="0" rIns="0" tIns="0" bIns="0">
            <a:spAutoFit/>
          </a:bodyPr>
          <a:lstStyle/>
          <a:p>
            <a:pPr algn="ctr"/>
            <a:r>
              <a:rPr sz="1500" b="1">
                <a:solidFill>
                  <a:srgbClr val="FFFFFF"/>
                </a:solidFill>
                <a:latin typeface="Consolas"/>
              </a:rPr>
              <a:t>01</a:t>
            </a:r>
          </a:p>
        </p:txBody>
      </p:sp>
      <p:sp>
        <p:nvSpPr>
          <p:cNvPr id="7" name="TextBox 6"/>
          <p:cNvSpPr txBox="1"/>
          <p:nvPr/>
        </p:nvSpPr>
        <p:spPr>
          <a:xfrm>
            <a:off x="868680" y="2651760"/>
            <a:ext cx="2926080" cy="548640"/>
          </a:xfrm>
          <a:prstGeom prst="rect">
            <a:avLst/>
          </a:prstGeom>
          <a:noFill/>
        </p:spPr>
        <p:txBody>
          <a:bodyPr wrap="square" anchor="t" lIns="0" rIns="0" tIns="0" bIns="0">
            <a:spAutoFit/>
          </a:bodyPr>
          <a:lstStyle/>
          <a:p>
            <a:pPr algn="l"/>
            <a:r>
              <a:rPr sz="1700" b="1">
                <a:solidFill>
                  <a:srgbClr val="1F1F1C"/>
                </a:solidFill>
                <a:latin typeface="Segoe UI"/>
              </a:rPr>
              <a:t>A new joiner has no runway</a:t>
            </a:r>
          </a:p>
        </p:txBody>
      </p:sp>
      <p:sp>
        <p:nvSpPr>
          <p:cNvPr id="8" name="TextBox 7"/>
          <p:cNvSpPr txBox="1"/>
          <p:nvPr/>
        </p:nvSpPr>
        <p:spPr>
          <a:xfrm>
            <a:off x="868680" y="3310128"/>
            <a:ext cx="2971800" cy="1463040"/>
          </a:xfrm>
          <a:prstGeom prst="rect">
            <a:avLst/>
          </a:prstGeom>
          <a:noFill/>
        </p:spPr>
        <p:txBody>
          <a:bodyPr wrap="square" anchor="t" lIns="0" rIns="0" tIns="0" bIns="0">
            <a:spAutoFit/>
          </a:bodyPr>
          <a:lstStyle/>
          <a:p>
            <a:pPr algn="l">
              <a:spcAft>
                <a:spcPts val="200"/>
              </a:spcAft>
            </a:pPr>
            <a:r>
              <a:rPr sz="1250" b="0">
                <a:solidFill>
                  <a:srgbClr val="66665F"/>
                </a:solidFill>
                <a:latin typeface="Segoe UI"/>
              </a:rPr>
              <a:t>Day one is a laptop and a login.</a:t>
            </a:r>
          </a:p>
          <a:p>
            <a:pPr algn="l">
              <a:spcAft>
                <a:spcPts val="200"/>
              </a:spcAft>
            </a:pPr>
            <a:r>
              <a:rPr sz="1250" b="0">
                <a:solidFill>
                  <a:srgbClr val="66665F"/>
                </a:solidFill>
                <a:latin typeface="Segoe UI"/>
              </a:rPr>
              <a:t>Everyone learns the workflow by</a:t>
            </a:r>
          </a:p>
          <a:p>
            <a:pPr algn="l">
              <a:spcAft>
                <a:spcPts val="200"/>
              </a:spcAft>
            </a:pPr>
            <a:r>
              <a:rPr sz="1250" b="0">
                <a:solidFill>
                  <a:srgbClr val="66665F"/>
                </a:solidFill>
                <a:latin typeface="Segoe UI"/>
              </a:rPr>
              <a:t>watching somebody else — so everyone</a:t>
            </a:r>
          </a:p>
          <a:p>
            <a:pPr algn="l">
              <a:spcAft>
                <a:spcPts val="200"/>
              </a:spcAft>
            </a:pPr>
            <a:r>
              <a:rPr sz="1250" b="0">
                <a:solidFill>
                  <a:srgbClr val="66665F"/>
                </a:solidFill>
                <a:latin typeface="Segoe UI"/>
              </a:rPr>
              <a:t>learns a slightly different one.</a:t>
            </a:r>
          </a:p>
        </p:txBody>
      </p:sp>
      <p:sp>
        <p:nvSpPr>
          <p:cNvPr id="9" name="Rectangle 8"/>
          <p:cNvSpPr/>
          <p:nvPr/>
        </p:nvSpPr>
        <p:spPr>
          <a:xfrm>
            <a:off x="868680" y="4846320"/>
            <a:ext cx="292608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047488"/>
            <a:ext cx="2944368" cy="640080"/>
          </a:xfrm>
          <a:prstGeom prst="rect">
            <a:avLst/>
          </a:prstGeom>
          <a:noFill/>
        </p:spPr>
        <p:txBody>
          <a:bodyPr wrap="square" anchor="t" lIns="0" rIns="0" tIns="0" bIns="0">
            <a:spAutoFit/>
          </a:bodyPr>
          <a:lstStyle/>
          <a:p>
            <a:pPr algn="l"/>
            <a:r>
              <a:rPr sz="1200" b="1">
                <a:solidFill>
                  <a:srgbClr val="24407E"/>
                </a:solidFill>
                <a:latin typeface="Segoe UI"/>
              </a:rPr>
              <a:t>Result: onboarding cost is paid again for every hire.</a:t>
            </a:r>
          </a:p>
        </p:txBody>
      </p:sp>
      <p:sp>
        <p:nvSpPr>
          <p:cNvPr id="11" name="Rectangle 10"/>
          <p:cNvSpPr/>
          <p:nvPr/>
        </p:nvSpPr>
        <p:spPr>
          <a:xfrm>
            <a:off x="4270248" y="1828800"/>
            <a:ext cx="3474720" cy="3931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44568" y="2103120"/>
            <a:ext cx="475488" cy="347472"/>
          </a:xfrm>
          <a:prstGeom prst="rect">
            <a:avLst/>
          </a:prstGeom>
          <a:solidFill>
            <a:srgbClr val="5F8C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2103120"/>
            <a:ext cx="475488" cy="347472"/>
          </a:xfrm>
          <a:prstGeom prst="rect">
            <a:avLst/>
          </a:prstGeom>
          <a:noFill/>
        </p:spPr>
        <p:txBody>
          <a:bodyPr wrap="square" anchor="ctr" lIns="0" rIns="0" tIns="0" bIns="0">
            <a:spAutoFit/>
          </a:bodyPr>
          <a:lstStyle/>
          <a:p>
            <a:pPr algn="ctr"/>
            <a:r>
              <a:rPr sz="1500" b="1">
                <a:solidFill>
                  <a:srgbClr val="FFFFFF"/>
                </a:solidFill>
                <a:latin typeface="Consolas"/>
              </a:rPr>
              <a:t>02</a:t>
            </a:r>
          </a:p>
        </p:txBody>
      </p:sp>
      <p:sp>
        <p:nvSpPr>
          <p:cNvPr id="14" name="TextBox 13"/>
          <p:cNvSpPr txBox="1"/>
          <p:nvPr/>
        </p:nvSpPr>
        <p:spPr>
          <a:xfrm>
            <a:off x="4544568" y="2651760"/>
            <a:ext cx="2926080" cy="548640"/>
          </a:xfrm>
          <a:prstGeom prst="rect">
            <a:avLst/>
          </a:prstGeom>
          <a:noFill/>
        </p:spPr>
        <p:txBody>
          <a:bodyPr wrap="square" anchor="t" lIns="0" rIns="0" tIns="0" bIns="0">
            <a:spAutoFit/>
          </a:bodyPr>
          <a:lstStyle/>
          <a:p>
            <a:pPr algn="l"/>
            <a:r>
              <a:rPr sz="1700" b="1">
                <a:solidFill>
                  <a:srgbClr val="1F1F1C"/>
                </a:solidFill>
                <a:latin typeface="Segoe UI"/>
              </a:rPr>
              <a:t>The agent drifts</a:t>
            </a:r>
          </a:p>
        </p:txBody>
      </p:sp>
      <p:sp>
        <p:nvSpPr>
          <p:cNvPr id="15" name="TextBox 14"/>
          <p:cNvSpPr txBox="1"/>
          <p:nvPr/>
        </p:nvSpPr>
        <p:spPr>
          <a:xfrm>
            <a:off x="4544568" y="3310128"/>
            <a:ext cx="2971800" cy="1463040"/>
          </a:xfrm>
          <a:prstGeom prst="rect">
            <a:avLst/>
          </a:prstGeom>
          <a:noFill/>
        </p:spPr>
        <p:txBody>
          <a:bodyPr wrap="square" anchor="t" lIns="0" rIns="0" tIns="0" bIns="0">
            <a:spAutoFit/>
          </a:bodyPr>
          <a:lstStyle/>
          <a:p>
            <a:pPr algn="l">
              <a:spcAft>
                <a:spcPts val="200"/>
              </a:spcAft>
            </a:pPr>
            <a:r>
              <a:rPr sz="1250" b="0">
                <a:solidFill>
                  <a:srgbClr val="66665F"/>
                </a:solidFill>
                <a:latin typeface="Segoe UI"/>
              </a:rPr>
              <a:t>An agent merely asked nicely to write</a:t>
            </a:r>
          </a:p>
          <a:p>
            <a:pPr algn="l">
              <a:spcAft>
                <a:spcPts val="200"/>
              </a:spcAft>
            </a:pPr>
            <a:r>
              <a:rPr sz="1250" b="0">
                <a:solidFill>
                  <a:srgbClr val="66665F"/>
                </a:solidFill>
                <a:latin typeface="Segoe UI"/>
              </a:rPr>
              <a:t>tests first will skip it the moment the</a:t>
            </a:r>
          </a:p>
          <a:p>
            <a:pPr algn="l">
              <a:spcAft>
                <a:spcPts val="200"/>
              </a:spcAft>
            </a:pPr>
            <a:r>
              <a:rPr sz="1250" b="0">
                <a:solidFill>
                  <a:srgbClr val="66665F"/>
                </a:solidFill>
                <a:latin typeface="Segoe UI"/>
              </a:rPr>
              <a:t>task looks easy. Prompts are advice.</a:t>
            </a:r>
          </a:p>
          <a:p>
            <a:pPr algn="l">
              <a:spcAft>
                <a:spcPts val="200"/>
              </a:spcAft>
            </a:pPr>
            <a:r>
              <a:rPr sz="1250" b="0">
                <a:solidFill>
                  <a:srgbClr val="66665F"/>
                </a:solidFill>
                <a:latin typeface="Segoe UI"/>
              </a:rPr>
              <a:t>Advice is not process.</a:t>
            </a:r>
          </a:p>
        </p:txBody>
      </p:sp>
      <p:sp>
        <p:nvSpPr>
          <p:cNvPr id="16" name="Rectangle 15"/>
          <p:cNvSpPr/>
          <p:nvPr/>
        </p:nvSpPr>
        <p:spPr>
          <a:xfrm>
            <a:off x="4544568" y="4846320"/>
            <a:ext cx="292608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44568" y="5047488"/>
            <a:ext cx="2944368" cy="640080"/>
          </a:xfrm>
          <a:prstGeom prst="rect">
            <a:avLst/>
          </a:prstGeom>
          <a:noFill/>
        </p:spPr>
        <p:txBody>
          <a:bodyPr wrap="square" anchor="t" lIns="0" rIns="0" tIns="0" bIns="0">
            <a:spAutoFit/>
          </a:bodyPr>
          <a:lstStyle/>
          <a:p>
            <a:pPr algn="l"/>
            <a:r>
              <a:rPr sz="1200" b="1">
                <a:solidFill>
                  <a:srgbClr val="24407E"/>
                </a:solidFill>
                <a:latin typeface="Segoe UI"/>
              </a:rPr>
              <a:t>Result: quality depends on who was prompting that day.</a:t>
            </a:r>
          </a:p>
        </p:txBody>
      </p:sp>
      <p:sp>
        <p:nvSpPr>
          <p:cNvPr id="18" name="Rectangle 17"/>
          <p:cNvSpPr/>
          <p:nvPr/>
        </p:nvSpPr>
        <p:spPr>
          <a:xfrm>
            <a:off x="7946136" y="1828800"/>
            <a:ext cx="3474720" cy="3931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0456" y="2103120"/>
            <a:ext cx="475488" cy="347472"/>
          </a:xfrm>
          <a:prstGeom prst="rect">
            <a:avLst/>
          </a:prstGeom>
          <a:solidFill>
            <a:srgbClr val="3D67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0456" y="2103120"/>
            <a:ext cx="475488" cy="347472"/>
          </a:xfrm>
          <a:prstGeom prst="rect">
            <a:avLst/>
          </a:prstGeom>
          <a:noFill/>
        </p:spPr>
        <p:txBody>
          <a:bodyPr wrap="square" anchor="ctr" lIns="0" rIns="0" tIns="0" bIns="0">
            <a:spAutoFit/>
          </a:bodyPr>
          <a:lstStyle/>
          <a:p>
            <a:pPr algn="ctr"/>
            <a:r>
              <a:rPr sz="1500" b="1">
                <a:solidFill>
                  <a:srgbClr val="FFFFFF"/>
                </a:solidFill>
                <a:latin typeface="Consolas"/>
              </a:rPr>
              <a:t>03</a:t>
            </a:r>
          </a:p>
        </p:txBody>
      </p:sp>
      <p:sp>
        <p:nvSpPr>
          <p:cNvPr id="21" name="TextBox 20"/>
          <p:cNvSpPr txBox="1"/>
          <p:nvPr/>
        </p:nvSpPr>
        <p:spPr>
          <a:xfrm>
            <a:off x="8220456" y="2651760"/>
            <a:ext cx="2926080" cy="548640"/>
          </a:xfrm>
          <a:prstGeom prst="rect">
            <a:avLst/>
          </a:prstGeom>
          <a:noFill/>
        </p:spPr>
        <p:txBody>
          <a:bodyPr wrap="square" anchor="t" lIns="0" rIns="0" tIns="0" bIns="0">
            <a:spAutoFit/>
          </a:bodyPr>
          <a:lstStyle/>
          <a:p>
            <a:pPr algn="l"/>
            <a:r>
              <a:rPr sz="1700" b="1">
                <a:solidFill>
                  <a:srgbClr val="1F1F1C"/>
                </a:solidFill>
                <a:latin typeface="Segoe UI"/>
              </a:rPr>
              <a:t>Management is blind</a:t>
            </a:r>
          </a:p>
        </p:txBody>
      </p:sp>
      <p:sp>
        <p:nvSpPr>
          <p:cNvPr id="22" name="TextBox 21"/>
          <p:cNvSpPr txBox="1"/>
          <p:nvPr/>
        </p:nvSpPr>
        <p:spPr>
          <a:xfrm>
            <a:off x="8220456" y="3310128"/>
            <a:ext cx="2971800" cy="1463040"/>
          </a:xfrm>
          <a:prstGeom prst="rect">
            <a:avLst/>
          </a:prstGeom>
          <a:noFill/>
        </p:spPr>
        <p:txBody>
          <a:bodyPr wrap="square" anchor="t" lIns="0" rIns="0" tIns="0" bIns="0">
            <a:spAutoFit/>
          </a:bodyPr>
          <a:lstStyle/>
          <a:p>
            <a:pPr algn="l">
              <a:spcAft>
                <a:spcPts val="200"/>
              </a:spcAft>
            </a:pPr>
            <a:r>
              <a:rPr sz="1250" b="0">
                <a:solidFill>
                  <a:srgbClr val="66665F"/>
                </a:solidFill>
                <a:latin typeface="Segoe UI"/>
              </a:rPr>
              <a:t>'Are we actually getting faster?' has</a:t>
            </a:r>
          </a:p>
          <a:p>
            <a:pPr algn="l">
              <a:spcAft>
                <a:spcPts val="200"/>
              </a:spcAft>
            </a:pPr>
            <a:r>
              <a:rPr sz="1250" b="0">
                <a:solidFill>
                  <a:srgbClr val="66665F"/>
                </a:solidFill>
                <a:latin typeface="Segoe UI"/>
              </a:rPr>
              <a:t>no answer, because nothing is recorded.</a:t>
            </a:r>
          </a:p>
          <a:p>
            <a:pPr algn="l">
              <a:spcAft>
                <a:spcPts val="200"/>
              </a:spcAft>
            </a:pPr>
            <a:r>
              <a:rPr sz="1250" b="0">
                <a:solidFill>
                  <a:srgbClr val="66665F"/>
                </a:solidFill>
                <a:latin typeface="Segoe UI"/>
              </a:rPr>
              <a:t>Status comes from whoever speaks</a:t>
            </a:r>
          </a:p>
          <a:p>
            <a:pPr algn="l">
              <a:spcAft>
                <a:spcPts val="200"/>
              </a:spcAft>
            </a:pPr>
            <a:r>
              <a:rPr sz="1250" b="0">
                <a:solidFill>
                  <a:srgbClr val="66665F"/>
                </a:solidFill>
                <a:latin typeface="Segoe UI"/>
              </a:rPr>
              <a:t>loudest at the stand-up.</a:t>
            </a:r>
          </a:p>
        </p:txBody>
      </p:sp>
      <p:sp>
        <p:nvSpPr>
          <p:cNvPr id="23" name="Rectangle 22"/>
          <p:cNvSpPr/>
          <p:nvPr/>
        </p:nvSpPr>
        <p:spPr>
          <a:xfrm>
            <a:off x="8220456" y="4846320"/>
            <a:ext cx="292608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0456" y="5047488"/>
            <a:ext cx="2944368" cy="640080"/>
          </a:xfrm>
          <a:prstGeom prst="rect">
            <a:avLst/>
          </a:prstGeom>
          <a:noFill/>
        </p:spPr>
        <p:txBody>
          <a:bodyPr wrap="square" anchor="t" lIns="0" rIns="0" tIns="0" bIns="0">
            <a:spAutoFit/>
          </a:bodyPr>
          <a:lstStyle/>
          <a:p>
            <a:pPr algn="l"/>
            <a:r>
              <a:rPr sz="1200" b="1">
                <a:solidFill>
                  <a:srgbClr val="24407E"/>
                </a:solidFill>
                <a:latin typeface="Segoe UI"/>
              </a:rPr>
              <a:t>Result: decisions get made on vibes.</a:t>
            </a:r>
          </a:p>
        </p:txBody>
      </p:sp>
      <p:sp>
        <p:nvSpPr>
          <p:cNvPr id="25" name="TextBox 24"/>
          <p:cNvSpPr txBox="1"/>
          <p:nvPr/>
        </p:nvSpPr>
        <p:spPr>
          <a:xfrm>
            <a:off x="594360" y="6053328"/>
            <a:ext cx="11000232" cy="365760"/>
          </a:xfrm>
          <a:prstGeom prst="rect">
            <a:avLst/>
          </a:prstGeom>
          <a:noFill/>
        </p:spPr>
        <p:txBody>
          <a:bodyPr wrap="square" anchor="t" lIns="0" rIns="0" tIns="0" bIns="0">
            <a:spAutoFit/>
          </a:bodyPr>
          <a:lstStyle/>
          <a:p>
            <a:pPr algn="l"/>
            <a:r>
              <a:rPr sz="1300" b="1">
                <a:solidFill>
                  <a:srgbClr val="1F1F1C"/>
                </a:solidFill>
                <a:latin typeface="Segoe UI"/>
              </a:rPr>
              <a:t>Same root cause in all three: the way we work lived in conversation, not in a 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The whole system on one page</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Four layers. Each one exists because the layer above it cannot enforce itself.</a:t>
            </a:r>
          </a:p>
        </p:txBody>
      </p:sp>
      <p:sp>
        <p:nvSpPr>
          <p:cNvPr id="4" name="Rectangle 3"/>
          <p:cNvSpPr/>
          <p:nvPr/>
        </p:nvSpPr>
        <p:spPr>
          <a:xfrm>
            <a:off x="594360" y="1901952"/>
            <a:ext cx="530352" cy="365760"/>
          </a:xfrm>
          <a:prstGeom prst="rect">
            <a:avLst/>
          </a:prstGeom>
          <a:solidFill>
            <a:srgbClr val="8FA8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901952"/>
            <a:ext cx="530352" cy="365760"/>
          </a:xfrm>
          <a:prstGeom prst="rect">
            <a:avLst/>
          </a:prstGeom>
          <a:noFill/>
        </p:spPr>
        <p:txBody>
          <a:bodyPr wrap="square" anchor="ctr" lIns="0" rIns="0" tIns="0" bIns="0">
            <a:spAutoFit/>
          </a:bodyPr>
          <a:lstStyle/>
          <a:p>
            <a:pPr algn="ctr"/>
            <a:r>
              <a:rPr sz="1500" b="1">
                <a:solidFill>
                  <a:srgbClr val="FFFFFF"/>
                </a:solidFill>
                <a:latin typeface="Consolas"/>
              </a:rPr>
              <a:t>01</a:t>
            </a:r>
          </a:p>
        </p:txBody>
      </p:sp>
      <p:sp>
        <p:nvSpPr>
          <p:cNvPr id="6" name="TextBox 5"/>
          <p:cNvSpPr txBox="1"/>
          <p:nvPr/>
        </p:nvSpPr>
        <p:spPr>
          <a:xfrm>
            <a:off x="1271016" y="1847088"/>
            <a:ext cx="1874519" cy="256032"/>
          </a:xfrm>
          <a:prstGeom prst="rect">
            <a:avLst/>
          </a:prstGeom>
          <a:noFill/>
        </p:spPr>
        <p:txBody>
          <a:bodyPr wrap="square" anchor="t" lIns="0" rIns="0" tIns="0" bIns="0">
            <a:spAutoFit/>
          </a:bodyPr>
          <a:lstStyle/>
          <a:p>
            <a:pPr algn="l"/>
            <a:r>
              <a:rPr sz="1250" b="1">
                <a:solidFill>
                  <a:srgbClr val="1F1F1C"/>
                </a:solidFill>
                <a:latin typeface="Consolas"/>
              </a:rPr>
              <a:t>THE WORKFLOW</a:t>
            </a:r>
          </a:p>
        </p:txBody>
      </p:sp>
      <p:sp>
        <p:nvSpPr>
          <p:cNvPr id="7" name="TextBox 6"/>
          <p:cNvSpPr txBox="1"/>
          <p:nvPr/>
        </p:nvSpPr>
        <p:spPr>
          <a:xfrm>
            <a:off x="1271016" y="2103120"/>
            <a:ext cx="1965960" cy="274320"/>
          </a:xfrm>
          <a:prstGeom prst="rect">
            <a:avLst/>
          </a:prstGeom>
          <a:noFill/>
        </p:spPr>
        <p:txBody>
          <a:bodyPr wrap="square" anchor="t" lIns="0" rIns="0" tIns="0" bIns="0">
            <a:spAutoFit/>
          </a:bodyPr>
          <a:lstStyle/>
          <a:p>
            <a:pPr algn="l"/>
            <a:r>
              <a:rPr sz="1050" b="0">
                <a:solidFill>
                  <a:srgbClr val="9A9A93"/>
                </a:solidFill>
                <a:latin typeface="Consolas"/>
              </a:rPr>
              <a:t>~/.claude/rules/common/</a:t>
            </a:r>
          </a:p>
        </p:txBody>
      </p:sp>
      <p:sp>
        <p:nvSpPr>
          <p:cNvPr id="8" name="TextBox 7"/>
          <p:cNvSpPr txBox="1"/>
          <p:nvPr/>
        </p:nvSpPr>
        <p:spPr>
          <a:xfrm>
            <a:off x="3337560" y="1847088"/>
            <a:ext cx="5074920" cy="822960"/>
          </a:xfrm>
          <a:prstGeom prst="rect">
            <a:avLst/>
          </a:prstGeom>
          <a:noFill/>
        </p:spPr>
        <p:txBody>
          <a:bodyPr wrap="square" anchor="t" lIns="0" rIns="0" tIns="0" bIns="0">
            <a:spAutoFit/>
          </a:bodyPr>
          <a:lstStyle/>
          <a:p>
            <a:pPr algn="l">
              <a:lnSpc>
                <a:spcPct val="125000"/>
              </a:lnSpc>
            </a:pPr>
            <a:r>
              <a:rPr sz="1250" b="0">
                <a:solidFill>
                  <a:srgbClr val="66665F"/>
                </a:solidFill>
                <a:latin typeface="Segoe UI"/>
              </a:rPr>
              <a:t>Nine rule files that load into every session, in every project. Workflow, testing, security, coding style, git, agents.</a:t>
            </a:r>
          </a:p>
        </p:txBody>
      </p:sp>
      <p:sp>
        <p:nvSpPr>
          <p:cNvPr id="9" name="TextBox 8"/>
          <p:cNvSpPr txBox="1"/>
          <p:nvPr/>
        </p:nvSpPr>
        <p:spPr>
          <a:xfrm>
            <a:off x="8641080" y="1865376"/>
            <a:ext cx="2926080" cy="822960"/>
          </a:xfrm>
          <a:prstGeom prst="rect">
            <a:avLst/>
          </a:prstGeom>
          <a:noFill/>
        </p:spPr>
        <p:txBody>
          <a:bodyPr wrap="square" anchor="t" lIns="0" rIns="0" tIns="0" bIns="0">
            <a:spAutoFit/>
          </a:bodyPr>
          <a:lstStyle/>
          <a:p>
            <a:pPr algn="l">
              <a:lnSpc>
                <a:spcPct val="120000"/>
              </a:lnSpc>
            </a:pPr>
            <a:r>
              <a:rPr sz="1200" b="1">
                <a:solidFill>
                  <a:srgbClr val="24407E"/>
                </a:solidFill>
                <a:latin typeface="Segoe UI"/>
              </a:rPr>
              <a:t>Defines what good work looks like.</a:t>
            </a:r>
          </a:p>
        </p:txBody>
      </p:sp>
      <p:sp>
        <p:nvSpPr>
          <p:cNvPr id="10" name="Rectangle 9"/>
          <p:cNvSpPr/>
          <p:nvPr/>
        </p:nvSpPr>
        <p:spPr>
          <a:xfrm>
            <a:off x="594360" y="2615184"/>
            <a:ext cx="11000232"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761488"/>
            <a:ext cx="530352" cy="365760"/>
          </a:xfrm>
          <a:prstGeom prst="rect">
            <a:avLst/>
          </a:prstGeom>
          <a:solidFill>
            <a:srgbClr val="5F8C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761488"/>
            <a:ext cx="530352" cy="365760"/>
          </a:xfrm>
          <a:prstGeom prst="rect">
            <a:avLst/>
          </a:prstGeom>
          <a:noFill/>
        </p:spPr>
        <p:txBody>
          <a:bodyPr wrap="square" anchor="ctr" lIns="0" rIns="0" tIns="0" bIns="0">
            <a:spAutoFit/>
          </a:bodyPr>
          <a:lstStyle/>
          <a:p>
            <a:pPr algn="ctr"/>
            <a:r>
              <a:rPr sz="1500" b="1">
                <a:solidFill>
                  <a:srgbClr val="FFFFFF"/>
                </a:solidFill>
                <a:latin typeface="Consolas"/>
              </a:rPr>
              <a:t>02</a:t>
            </a:r>
          </a:p>
        </p:txBody>
      </p:sp>
      <p:sp>
        <p:nvSpPr>
          <p:cNvPr id="13" name="TextBox 12"/>
          <p:cNvSpPr txBox="1"/>
          <p:nvPr/>
        </p:nvSpPr>
        <p:spPr>
          <a:xfrm>
            <a:off x="1271016" y="2706624"/>
            <a:ext cx="1874519" cy="256032"/>
          </a:xfrm>
          <a:prstGeom prst="rect">
            <a:avLst/>
          </a:prstGeom>
          <a:noFill/>
        </p:spPr>
        <p:txBody>
          <a:bodyPr wrap="square" anchor="t" lIns="0" rIns="0" tIns="0" bIns="0">
            <a:spAutoFit/>
          </a:bodyPr>
          <a:lstStyle/>
          <a:p>
            <a:pPr algn="l"/>
            <a:r>
              <a:rPr sz="1250" b="1">
                <a:solidFill>
                  <a:srgbClr val="1F1F1C"/>
                </a:solidFill>
                <a:latin typeface="Consolas"/>
              </a:rPr>
              <a:t>THE RULES</a:t>
            </a:r>
          </a:p>
        </p:txBody>
      </p:sp>
      <p:sp>
        <p:nvSpPr>
          <p:cNvPr id="14" name="TextBox 13"/>
          <p:cNvSpPr txBox="1"/>
          <p:nvPr/>
        </p:nvSpPr>
        <p:spPr>
          <a:xfrm>
            <a:off x="1271016" y="2962656"/>
            <a:ext cx="1965960" cy="274320"/>
          </a:xfrm>
          <a:prstGeom prst="rect">
            <a:avLst/>
          </a:prstGeom>
          <a:noFill/>
        </p:spPr>
        <p:txBody>
          <a:bodyPr wrap="square" anchor="t" lIns="0" rIns="0" tIns="0" bIns="0">
            <a:spAutoFit/>
          </a:bodyPr>
          <a:lstStyle/>
          <a:p>
            <a:pPr algn="l"/>
            <a:r>
              <a:rPr sz="1050" b="0">
                <a:solidFill>
                  <a:srgbClr val="9A9A93"/>
                </a:solidFill>
                <a:latin typeface="Consolas"/>
              </a:rPr>
              <a:t>CLAUDE.md  (per repo)</a:t>
            </a:r>
          </a:p>
        </p:txBody>
      </p:sp>
      <p:sp>
        <p:nvSpPr>
          <p:cNvPr id="15" name="TextBox 14"/>
          <p:cNvSpPr txBox="1"/>
          <p:nvPr/>
        </p:nvSpPr>
        <p:spPr>
          <a:xfrm>
            <a:off x="3337560" y="2706624"/>
            <a:ext cx="5074920" cy="822960"/>
          </a:xfrm>
          <a:prstGeom prst="rect">
            <a:avLst/>
          </a:prstGeom>
          <a:noFill/>
        </p:spPr>
        <p:txBody>
          <a:bodyPr wrap="square" anchor="t" lIns="0" rIns="0" tIns="0" bIns="0">
            <a:spAutoFit/>
          </a:bodyPr>
          <a:lstStyle/>
          <a:p>
            <a:pPr algn="l">
              <a:lnSpc>
                <a:spcPct val="125000"/>
              </a:lnSpc>
            </a:pPr>
            <a:r>
              <a:rPr sz="1250" b="0">
                <a:solidFill>
                  <a:srgbClr val="66665F"/>
                </a:solidFill>
                <a:latin typeface="Segoe UI"/>
              </a:rPr>
              <a:t>Project-specific hard rules the agent reads before it does anything — branch policy, the test-case log, the project layout.</a:t>
            </a:r>
          </a:p>
        </p:txBody>
      </p:sp>
      <p:sp>
        <p:nvSpPr>
          <p:cNvPr id="16" name="TextBox 15"/>
          <p:cNvSpPr txBox="1"/>
          <p:nvPr/>
        </p:nvSpPr>
        <p:spPr>
          <a:xfrm>
            <a:off x="8641080" y="2724912"/>
            <a:ext cx="2926080" cy="822960"/>
          </a:xfrm>
          <a:prstGeom prst="rect">
            <a:avLst/>
          </a:prstGeom>
          <a:noFill/>
        </p:spPr>
        <p:txBody>
          <a:bodyPr wrap="square" anchor="t" lIns="0" rIns="0" tIns="0" bIns="0">
            <a:spAutoFit/>
          </a:bodyPr>
          <a:lstStyle/>
          <a:p>
            <a:pPr algn="l">
              <a:lnSpc>
                <a:spcPct val="120000"/>
              </a:lnSpc>
            </a:pPr>
            <a:r>
              <a:rPr sz="1200" b="1">
                <a:solidFill>
                  <a:srgbClr val="24407E"/>
                </a:solidFill>
                <a:latin typeface="Segoe UI"/>
              </a:rPr>
              <a:t>The agent cannot claim it did not know.</a:t>
            </a:r>
          </a:p>
        </p:txBody>
      </p:sp>
      <p:sp>
        <p:nvSpPr>
          <p:cNvPr id="17" name="Rectangle 16"/>
          <p:cNvSpPr/>
          <p:nvPr/>
        </p:nvSpPr>
        <p:spPr>
          <a:xfrm>
            <a:off x="594360" y="3474720"/>
            <a:ext cx="11000232"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3621024"/>
            <a:ext cx="530352" cy="365760"/>
          </a:xfrm>
          <a:prstGeom prst="rect">
            <a:avLst/>
          </a:prstGeom>
          <a:solidFill>
            <a:srgbClr val="3D67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621024"/>
            <a:ext cx="530352" cy="365760"/>
          </a:xfrm>
          <a:prstGeom prst="rect">
            <a:avLst/>
          </a:prstGeom>
          <a:noFill/>
        </p:spPr>
        <p:txBody>
          <a:bodyPr wrap="square" anchor="ctr" lIns="0" rIns="0" tIns="0" bIns="0">
            <a:spAutoFit/>
          </a:bodyPr>
          <a:lstStyle/>
          <a:p>
            <a:pPr algn="ctr"/>
            <a:r>
              <a:rPr sz="1500" b="1">
                <a:solidFill>
                  <a:srgbClr val="FFFFFF"/>
                </a:solidFill>
                <a:latin typeface="Consolas"/>
              </a:rPr>
              <a:t>03</a:t>
            </a:r>
          </a:p>
        </p:txBody>
      </p:sp>
      <p:sp>
        <p:nvSpPr>
          <p:cNvPr id="20" name="TextBox 19"/>
          <p:cNvSpPr txBox="1"/>
          <p:nvPr/>
        </p:nvSpPr>
        <p:spPr>
          <a:xfrm>
            <a:off x="1271016" y="3566160"/>
            <a:ext cx="1874519" cy="256032"/>
          </a:xfrm>
          <a:prstGeom prst="rect">
            <a:avLst/>
          </a:prstGeom>
          <a:noFill/>
        </p:spPr>
        <p:txBody>
          <a:bodyPr wrap="square" anchor="t" lIns="0" rIns="0" tIns="0" bIns="0">
            <a:spAutoFit/>
          </a:bodyPr>
          <a:lstStyle/>
          <a:p>
            <a:pPr algn="l"/>
            <a:r>
              <a:rPr sz="1250" b="1">
                <a:solidFill>
                  <a:srgbClr val="1F1F1C"/>
                </a:solidFill>
                <a:latin typeface="Consolas"/>
              </a:rPr>
              <a:t>THE GATE</a:t>
            </a:r>
          </a:p>
        </p:txBody>
      </p:sp>
      <p:sp>
        <p:nvSpPr>
          <p:cNvPr id="21" name="TextBox 20"/>
          <p:cNvSpPr txBox="1"/>
          <p:nvPr/>
        </p:nvSpPr>
        <p:spPr>
          <a:xfrm>
            <a:off x="1271016" y="3822191"/>
            <a:ext cx="1965960" cy="274320"/>
          </a:xfrm>
          <a:prstGeom prst="rect">
            <a:avLst/>
          </a:prstGeom>
          <a:noFill/>
        </p:spPr>
        <p:txBody>
          <a:bodyPr wrap="square" anchor="t" lIns="0" rIns="0" tIns="0" bIns="0">
            <a:spAutoFit/>
          </a:bodyPr>
          <a:lstStyle/>
          <a:p>
            <a:pPr algn="l"/>
            <a:r>
              <a:rPr sz="1050" b="0">
                <a:solidFill>
                  <a:srgbClr val="9A9A93"/>
                </a:solidFill>
                <a:latin typeface="Consolas"/>
              </a:rPr>
              <a:t>.github/  +  branch ruleset</a:t>
            </a:r>
          </a:p>
        </p:txBody>
      </p:sp>
      <p:sp>
        <p:nvSpPr>
          <p:cNvPr id="22" name="TextBox 21"/>
          <p:cNvSpPr txBox="1"/>
          <p:nvPr/>
        </p:nvSpPr>
        <p:spPr>
          <a:xfrm>
            <a:off x="3337560" y="3566160"/>
            <a:ext cx="5074920" cy="822960"/>
          </a:xfrm>
          <a:prstGeom prst="rect">
            <a:avLst/>
          </a:prstGeom>
          <a:noFill/>
        </p:spPr>
        <p:txBody>
          <a:bodyPr wrap="square" anchor="t" lIns="0" rIns="0" tIns="0" bIns="0">
            <a:spAutoFit/>
          </a:bodyPr>
          <a:lstStyle/>
          <a:p>
            <a:pPr algn="l">
              <a:lnSpc>
                <a:spcPct val="125000"/>
              </a:lnSpc>
            </a:pPr>
            <a:r>
              <a:rPr sz="1250" b="0">
                <a:solidFill>
                  <a:srgbClr val="66665F"/>
                </a:solidFill>
                <a:latin typeface="Segoe UI"/>
              </a:rPr>
              <a:t>Protected main, 2 approving reviews, CI tests, CodeQL scan, Bandit security scan. Enforced by GitHub, not by goodwill.</a:t>
            </a:r>
          </a:p>
        </p:txBody>
      </p:sp>
      <p:sp>
        <p:nvSpPr>
          <p:cNvPr id="23" name="TextBox 22"/>
          <p:cNvSpPr txBox="1"/>
          <p:nvPr/>
        </p:nvSpPr>
        <p:spPr>
          <a:xfrm>
            <a:off x="8641080" y="3584448"/>
            <a:ext cx="2926080" cy="822960"/>
          </a:xfrm>
          <a:prstGeom prst="rect">
            <a:avLst/>
          </a:prstGeom>
          <a:noFill/>
        </p:spPr>
        <p:txBody>
          <a:bodyPr wrap="square" anchor="t" lIns="0" rIns="0" tIns="0" bIns="0">
            <a:spAutoFit/>
          </a:bodyPr>
          <a:lstStyle/>
          <a:p>
            <a:pPr algn="l">
              <a:lnSpc>
                <a:spcPct val="120000"/>
              </a:lnSpc>
            </a:pPr>
            <a:r>
              <a:rPr sz="1200" b="1">
                <a:solidFill>
                  <a:srgbClr val="24407E"/>
                </a:solidFill>
                <a:latin typeface="Segoe UI"/>
              </a:rPr>
              <a:t>Nothing merges because someone was in a hurry.</a:t>
            </a:r>
          </a:p>
        </p:txBody>
      </p:sp>
      <p:sp>
        <p:nvSpPr>
          <p:cNvPr id="24" name="Rectangle 23"/>
          <p:cNvSpPr/>
          <p:nvPr/>
        </p:nvSpPr>
        <p:spPr>
          <a:xfrm>
            <a:off x="594360" y="4334256"/>
            <a:ext cx="11000232"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4480559"/>
            <a:ext cx="530352" cy="365760"/>
          </a:xfrm>
          <a:prstGeom prst="rect">
            <a:avLst/>
          </a:prstGeom>
          <a:solidFill>
            <a:srgbClr val="244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480559"/>
            <a:ext cx="530352" cy="365760"/>
          </a:xfrm>
          <a:prstGeom prst="rect">
            <a:avLst/>
          </a:prstGeom>
          <a:noFill/>
        </p:spPr>
        <p:txBody>
          <a:bodyPr wrap="square" anchor="ctr" lIns="0" rIns="0" tIns="0" bIns="0">
            <a:spAutoFit/>
          </a:bodyPr>
          <a:lstStyle/>
          <a:p>
            <a:pPr algn="ctr"/>
            <a:r>
              <a:rPr sz="1500" b="1">
                <a:solidFill>
                  <a:srgbClr val="FFFFFF"/>
                </a:solidFill>
                <a:latin typeface="Consolas"/>
              </a:rPr>
              <a:t>04</a:t>
            </a:r>
          </a:p>
        </p:txBody>
      </p:sp>
      <p:sp>
        <p:nvSpPr>
          <p:cNvPr id="27" name="TextBox 26"/>
          <p:cNvSpPr txBox="1"/>
          <p:nvPr/>
        </p:nvSpPr>
        <p:spPr>
          <a:xfrm>
            <a:off x="1271016" y="4425696"/>
            <a:ext cx="1874519" cy="256032"/>
          </a:xfrm>
          <a:prstGeom prst="rect">
            <a:avLst/>
          </a:prstGeom>
          <a:noFill/>
        </p:spPr>
        <p:txBody>
          <a:bodyPr wrap="square" anchor="t" lIns="0" rIns="0" tIns="0" bIns="0">
            <a:spAutoFit/>
          </a:bodyPr>
          <a:lstStyle/>
          <a:p>
            <a:pPr algn="l"/>
            <a:r>
              <a:rPr sz="1250" b="1">
                <a:solidFill>
                  <a:srgbClr val="1F1F1C"/>
                </a:solidFill>
                <a:latin typeface="Consolas"/>
              </a:rPr>
              <a:t>THE DASHBOARD</a:t>
            </a:r>
          </a:p>
        </p:txBody>
      </p:sp>
      <p:sp>
        <p:nvSpPr>
          <p:cNvPr id="28" name="TextBox 27"/>
          <p:cNvSpPr txBox="1"/>
          <p:nvPr/>
        </p:nvSpPr>
        <p:spPr>
          <a:xfrm>
            <a:off x="1271016" y="4681728"/>
            <a:ext cx="1965960" cy="274320"/>
          </a:xfrm>
          <a:prstGeom prst="rect">
            <a:avLst/>
          </a:prstGeom>
          <a:noFill/>
        </p:spPr>
        <p:txBody>
          <a:bodyPr wrap="square" anchor="t" lIns="0" rIns="0" tIns="0" bIns="0">
            <a:spAutoFit/>
          </a:bodyPr>
          <a:lstStyle/>
          <a:p>
            <a:pPr algn="l"/>
            <a:r>
              <a:rPr sz="1050" b="0">
                <a:solidFill>
                  <a:srgbClr val="9A9A93"/>
                </a:solidFill>
                <a:latin typeface="Consolas"/>
              </a:rPr>
              <a:t>ManagementDashboard</a:t>
            </a:r>
          </a:p>
        </p:txBody>
      </p:sp>
      <p:sp>
        <p:nvSpPr>
          <p:cNvPr id="29" name="TextBox 28"/>
          <p:cNvSpPr txBox="1"/>
          <p:nvPr/>
        </p:nvSpPr>
        <p:spPr>
          <a:xfrm>
            <a:off x="3337560" y="4425696"/>
            <a:ext cx="5074920" cy="822960"/>
          </a:xfrm>
          <a:prstGeom prst="rect">
            <a:avLst/>
          </a:prstGeom>
          <a:noFill/>
        </p:spPr>
        <p:txBody>
          <a:bodyPr wrap="square" anchor="t" lIns="0" rIns="0" tIns="0" bIns="0">
            <a:spAutoFit/>
          </a:bodyPr>
          <a:lstStyle/>
          <a:p>
            <a:pPr algn="l">
              <a:lnSpc>
                <a:spcPct val="125000"/>
              </a:lnSpc>
            </a:pPr>
            <a:r>
              <a:rPr sz="1250" b="0">
                <a:solidFill>
                  <a:srgbClr val="66665F"/>
                </a:solidFill>
                <a:latin typeface="Segoe UI"/>
              </a:rPr>
              <a:t>Reads the trail the layers above leave behind — commits, PRs, reviews, labels — and scores every task L1–L5.</a:t>
            </a:r>
          </a:p>
        </p:txBody>
      </p:sp>
      <p:sp>
        <p:nvSpPr>
          <p:cNvPr id="30" name="TextBox 29"/>
          <p:cNvSpPr txBox="1"/>
          <p:nvPr/>
        </p:nvSpPr>
        <p:spPr>
          <a:xfrm>
            <a:off x="8641080" y="4443983"/>
            <a:ext cx="2926080" cy="822960"/>
          </a:xfrm>
          <a:prstGeom prst="rect">
            <a:avLst/>
          </a:prstGeom>
          <a:noFill/>
        </p:spPr>
        <p:txBody>
          <a:bodyPr wrap="square" anchor="t" lIns="0" rIns="0" tIns="0" bIns="0">
            <a:spAutoFit/>
          </a:bodyPr>
          <a:lstStyle/>
          <a:p>
            <a:pPr algn="l">
              <a:lnSpc>
                <a:spcPct val="120000"/>
              </a:lnSpc>
            </a:pPr>
            <a:r>
              <a:rPr sz="1200" b="1">
                <a:solidFill>
                  <a:srgbClr val="24407E"/>
                </a:solidFill>
                <a:latin typeface="Segoe UI"/>
              </a:rPr>
              <a:t>Proof, not self-report.</a:t>
            </a:r>
          </a:p>
        </p:txBody>
      </p:sp>
      <p:sp>
        <p:nvSpPr>
          <p:cNvPr id="31" name="Rectangle 30"/>
          <p:cNvSpPr/>
          <p:nvPr/>
        </p:nvSpPr>
        <p:spPr>
          <a:xfrm>
            <a:off x="594360" y="5449824"/>
            <a:ext cx="11000232" cy="786384"/>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5577840"/>
            <a:ext cx="10424160" cy="256032"/>
          </a:xfrm>
          <a:prstGeom prst="rect">
            <a:avLst/>
          </a:prstGeom>
          <a:noFill/>
        </p:spPr>
        <p:txBody>
          <a:bodyPr wrap="square" anchor="t" lIns="0" rIns="0" tIns="0" bIns="0">
            <a:spAutoFit/>
          </a:bodyPr>
          <a:lstStyle/>
          <a:p>
            <a:pPr algn="l"/>
            <a:r>
              <a:rPr sz="1050" b="1">
                <a:solidFill>
                  <a:srgbClr val="CADCFC"/>
                </a:solidFill>
                <a:latin typeface="Consolas"/>
              </a:rPr>
              <a:t>THE POINT</a:t>
            </a:r>
          </a:p>
        </p:txBody>
      </p:sp>
      <p:sp>
        <p:nvSpPr>
          <p:cNvPr id="33" name="TextBox 32"/>
          <p:cNvSpPr txBox="1"/>
          <p:nvPr/>
        </p:nvSpPr>
        <p:spPr>
          <a:xfrm>
            <a:off x="886968" y="5833872"/>
            <a:ext cx="10424160" cy="365760"/>
          </a:xfrm>
          <a:prstGeom prst="rect">
            <a:avLst/>
          </a:prstGeom>
          <a:noFill/>
        </p:spPr>
        <p:txBody>
          <a:bodyPr wrap="square" anchor="t" lIns="0" rIns="0" tIns="0" bIns="0">
            <a:spAutoFit/>
          </a:bodyPr>
          <a:lstStyle/>
          <a:p>
            <a:pPr algn="l"/>
            <a:r>
              <a:rPr sz="1400" b="1">
                <a:solidFill>
                  <a:srgbClr val="FFFFFF"/>
                </a:solidFill>
                <a:latin typeface="Segoe UI"/>
              </a:rPr>
              <a:t>A rule nothing checks is a suggestion. A gate nothing measures is unprovable. The four layers only work as a chain.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Layer 1 — The workflow is a file, not a habit</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~/.claude/rules/common/ — loaded into every session, in every project, before the first line of work</a:t>
            </a:r>
          </a:p>
        </p:txBody>
      </p:sp>
      <p:sp>
        <p:nvSpPr>
          <p:cNvPr id="4" name="TextBox 3"/>
          <p:cNvSpPr txBox="1"/>
          <p:nvPr/>
        </p:nvSpPr>
        <p:spPr>
          <a:xfrm>
            <a:off x="594360" y="1920240"/>
            <a:ext cx="2148840" cy="274320"/>
          </a:xfrm>
          <a:prstGeom prst="rect">
            <a:avLst/>
          </a:prstGeom>
          <a:noFill/>
        </p:spPr>
        <p:txBody>
          <a:bodyPr wrap="square" anchor="t" lIns="0" rIns="0" tIns="0" bIns="0">
            <a:spAutoFit/>
          </a:bodyPr>
          <a:lstStyle/>
          <a:p>
            <a:pPr algn="l"/>
            <a:r>
              <a:rPr sz="1250" b="1">
                <a:solidFill>
                  <a:srgbClr val="24407E"/>
                </a:solidFill>
                <a:latin typeface="Consolas"/>
              </a:rPr>
              <a:t>workflow.md</a:t>
            </a:r>
          </a:p>
        </p:txBody>
      </p:sp>
      <p:sp>
        <p:nvSpPr>
          <p:cNvPr id="5" name="TextBox 4"/>
          <p:cNvSpPr txBox="1"/>
          <p:nvPr/>
        </p:nvSpPr>
        <p:spPr>
          <a:xfrm>
            <a:off x="2926079" y="1901952"/>
            <a:ext cx="4892040" cy="566928"/>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The governing process. Fast path vs. full orchestration, the approval checkpoint, verification, commit policy.</a:t>
            </a:r>
          </a:p>
        </p:txBody>
      </p:sp>
      <p:sp>
        <p:nvSpPr>
          <p:cNvPr id="6" name="TextBox 5"/>
          <p:cNvSpPr txBox="1"/>
          <p:nvPr/>
        </p:nvSpPr>
        <p:spPr>
          <a:xfrm>
            <a:off x="594360" y="2578608"/>
            <a:ext cx="2148840" cy="274320"/>
          </a:xfrm>
          <a:prstGeom prst="rect">
            <a:avLst/>
          </a:prstGeom>
          <a:noFill/>
        </p:spPr>
        <p:txBody>
          <a:bodyPr wrap="square" anchor="t" lIns="0" rIns="0" tIns="0" bIns="0">
            <a:spAutoFit/>
          </a:bodyPr>
          <a:lstStyle/>
          <a:p>
            <a:pPr algn="l"/>
            <a:r>
              <a:rPr sz="1250" b="1">
                <a:solidFill>
                  <a:srgbClr val="24407E"/>
                </a:solidFill>
                <a:latin typeface="Consolas"/>
              </a:rPr>
              <a:t>agents.md</a:t>
            </a:r>
          </a:p>
        </p:txBody>
      </p:sp>
      <p:sp>
        <p:nvSpPr>
          <p:cNvPr id="7" name="TextBox 6"/>
          <p:cNvSpPr txBox="1"/>
          <p:nvPr/>
        </p:nvSpPr>
        <p:spPr>
          <a:xfrm>
            <a:off x="2926079" y="2560320"/>
            <a:ext cx="4892040" cy="566928"/>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Which specialist agent handles what, and the standing rule that independent agents go out in parallel.</a:t>
            </a:r>
          </a:p>
        </p:txBody>
      </p:sp>
      <p:sp>
        <p:nvSpPr>
          <p:cNvPr id="8" name="TextBox 7"/>
          <p:cNvSpPr txBox="1"/>
          <p:nvPr/>
        </p:nvSpPr>
        <p:spPr>
          <a:xfrm>
            <a:off x="594360" y="3236976"/>
            <a:ext cx="2148840" cy="274320"/>
          </a:xfrm>
          <a:prstGeom prst="rect">
            <a:avLst/>
          </a:prstGeom>
          <a:noFill/>
        </p:spPr>
        <p:txBody>
          <a:bodyPr wrap="square" anchor="t" lIns="0" rIns="0" tIns="0" bIns="0">
            <a:spAutoFit/>
          </a:bodyPr>
          <a:lstStyle/>
          <a:p>
            <a:pPr algn="l"/>
            <a:r>
              <a:rPr sz="1250" b="1">
                <a:solidFill>
                  <a:srgbClr val="24407E"/>
                </a:solidFill>
                <a:latin typeface="Consolas"/>
              </a:rPr>
              <a:t>testing.md</a:t>
            </a:r>
          </a:p>
        </p:txBody>
      </p:sp>
      <p:sp>
        <p:nvSpPr>
          <p:cNvPr id="9" name="TextBox 8"/>
          <p:cNvSpPr txBox="1"/>
          <p:nvPr/>
        </p:nvSpPr>
        <p:spPr>
          <a:xfrm>
            <a:off x="2926079" y="3218688"/>
            <a:ext cx="4892040" cy="566928"/>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Tests first. 80% coverage floor. Unit, integration and E2E all required.</a:t>
            </a:r>
          </a:p>
        </p:txBody>
      </p:sp>
      <p:sp>
        <p:nvSpPr>
          <p:cNvPr id="10" name="TextBox 9"/>
          <p:cNvSpPr txBox="1"/>
          <p:nvPr/>
        </p:nvSpPr>
        <p:spPr>
          <a:xfrm>
            <a:off x="594360" y="3895344"/>
            <a:ext cx="2148840" cy="274320"/>
          </a:xfrm>
          <a:prstGeom prst="rect">
            <a:avLst/>
          </a:prstGeom>
          <a:noFill/>
        </p:spPr>
        <p:txBody>
          <a:bodyPr wrap="square" anchor="t" lIns="0" rIns="0" tIns="0" bIns="0">
            <a:spAutoFit/>
          </a:bodyPr>
          <a:lstStyle/>
          <a:p>
            <a:pPr algn="l"/>
            <a:r>
              <a:rPr sz="1250" b="1">
                <a:solidFill>
                  <a:srgbClr val="24407E"/>
                </a:solidFill>
                <a:latin typeface="Consolas"/>
              </a:rPr>
              <a:t>security.md</a:t>
            </a:r>
          </a:p>
        </p:txBody>
      </p:sp>
      <p:sp>
        <p:nvSpPr>
          <p:cNvPr id="11" name="TextBox 10"/>
          <p:cNvSpPr txBox="1"/>
          <p:nvPr/>
        </p:nvSpPr>
        <p:spPr>
          <a:xfrm>
            <a:off x="2926079" y="3877056"/>
            <a:ext cx="4892040" cy="566928"/>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The pre-commit checklist: no hardcoded secrets, input validated, injection and XSS prevention, rate limiting.</a:t>
            </a:r>
          </a:p>
        </p:txBody>
      </p:sp>
      <p:sp>
        <p:nvSpPr>
          <p:cNvPr id="12" name="TextBox 11"/>
          <p:cNvSpPr txBox="1"/>
          <p:nvPr/>
        </p:nvSpPr>
        <p:spPr>
          <a:xfrm>
            <a:off x="594360" y="4553712"/>
            <a:ext cx="2148840" cy="274320"/>
          </a:xfrm>
          <a:prstGeom prst="rect">
            <a:avLst/>
          </a:prstGeom>
          <a:noFill/>
        </p:spPr>
        <p:txBody>
          <a:bodyPr wrap="square" anchor="t" lIns="0" rIns="0" tIns="0" bIns="0">
            <a:spAutoFit/>
          </a:bodyPr>
          <a:lstStyle/>
          <a:p>
            <a:pPr algn="l"/>
            <a:r>
              <a:rPr sz="1250" b="1">
                <a:solidFill>
                  <a:srgbClr val="24407E"/>
                </a:solidFill>
                <a:latin typeface="Consolas"/>
              </a:rPr>
              <a:t>coding-style.md</a:t>
            </a:r>
          </a:p>
        </p:txBody>
      </p:sp>
      <p:sp>
        <p:nvSpPr>
          <p:cNvPr id="13" name="TextBox 12"/>
          <p:cNvSpPr txBox="1"/>
          <p:nvPr/>
        </p:nvSpPr>
        <p:spPr>
          <a:xfrm>
            <a:off x="2926079" y="4535424"/>
            <a:ext cx="4892040" cy="566928"/>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Immutability is critical — never mutate, always return a new object. Small focused files. Errors never silently swallowed.</a:t>
            </a:r>
          </a:p>
        </p:txBody>
      </p:sp>
      <p:sp>
        <p:nvSpPr>
          <p:cNvPr id="14" name="TextBox 13"/>
          <p:cNvSpPr txBox="1"/>
          <p:nvPr/>
        </p:nvSpPr>
        <p:spPr>
          <a:xfrm>
            <a:off x="594360" y="5212079"/>
            <a:ext cx="2148840" cy="274320"/>
          </a:xfrm>
          <a:prstGeom prst="rect">
            <a:avLst/>
          </a:prstGeom>
          <a:noFill/>
        </p:spPr>
        <p:txBody>
          <a:bodyPr wrap="square" anchor="t" lIns="0" rIns="0" tIns="0" bIns="0">
            <a:spAutoFit/>
          </a:bodyPr>
          <a:lstStyle/>
          <a:p>
            <a:pPr algn="l"/>
            <a:r>
              <a:rPr sz="1250" b="1">
                <a:solidFill>
                  <a:srgbClr val="24407E"/>
                </a:solidFill>
                <a:latin typeface="Consolas"/>
              </a:rPr>
              <a:t>git-workflow.md</a:t>
            </a:r>
          </a:p>
        </p:txBody>
      </p:sp>
      <p:sp>
        <p:nvSpPr>
          <p:cNvPr id="15" name="TextBox 14"/>
          <p:cNvSpPr txBox="1"/>
          <p:nvPr/>
        </p:nvSpPr>
        <p:spPr>
          <a:xfrm>
            <a:off x="2926079" y="5193792"/>
            <a:ext cx="4892040" cy="566928"/>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Commit message format. Local commit by default — push and PR stay manual unless asked.</a:t>
            </a:r>
          </a:p>
        </p:txBody>
      </p:sp>
      <p:sp>
        <p:nvSpPr>
          <p:cNvPr id="16" name="Rectangle 15"/>
          <p:cNvSpPr/>
          <p:nvPr/>
        </p:nvSpPr>
        <p:spPr>
          <a:xfrm>
            <a:off x="8229600" y="1847088"/>
            <a:ext cx="3364992" cy="3749039"/>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0" y="2139696"/>
            <a:ext cx="2834640" cy="274320"/>
          </a:xfrm>
          <a:prstGeom prst="rect">
            <a:avLst/>
          </a:prstGeom>
          <a:noFill/>
        </p:spPr>
        <p:txBody>
          <a:bodyPr wrap="square" anchor="t" lIns="0" rIns="0" tIns="0" bIns="0">
            <a:spAutoFit/>
          </a:bodyPr>
          <a:lstStyle/>
          <a:p>
            <a:pPr algn="l"/>
            <a:r>
              <a:rPr sz="1050" b="1">
                <a:solidFill>
                  <a:srgbClr val="CADCFC"/>
                </a:solidFill>
                <a:latin typeface="Consolas"/>
              </a:rPr>
              <a:t>WHY THIS MATTERS</a:t>
            </a:r>
          </a:p>
        </p:txBody>
      </p:sp>
      <p:sp>
        <p:nvSpPr>
          <p:cNvPr id="18" name="TextBox 17"/>
          <p:cNvSpPr txBox="1"/>
          <p:nvPr/>
        </p:nvSpPr>
        <p:spPr>
          <a:xfrm>
            <a:off x="8503920" y="2505456"/>
            <a:ext cx="2834640" cy="640080"/>
          </a:xfrm>
          <a:prstGeom prst="rect">
            <a:avLst/>
          </a:prstGeom>
          <a:noFill/>
        </p:spPr>
        <p:txBody>
          <a:bodyPr wrap="square" anchor="t" lIns="0" rIns="0" tIns="0" bIns="0">
            <a:spAutoFit/>
          </a:bodyPr>
          <a:lstStyle/>
          <a:p>
            <a:pPr algn="l">
              <a:lnSpc>
                <a:spcPct val="115000"/>
              </a:lnSpc>
            </a:pPr>
            <a:r>
              <a:rPr sz="2000" b="1">
                <a:solidFill>
                  <a:srgbClr val="FFFFFF"/>
                </a:solidFill>
                <a:latin typeface="Segoe UI"/>
              </a:rPr>
              <a:t>Written once.</a:t>
            </a:r>
          </a:p>
          <a:p>
            <a:pPr algn="l">
              <a:lnSpc>
                <a:spcPct val="115000"/>
              </a:lnSpc>
            </a:pPr>
            <a:r>
              <a:rPr sz="2000" b="1">
                <a:solidFill>
                  <a:srgbClr val="FFFFFF"/>
                </a:solidFill>
                <a:latin typeface="Segoe UI"/>
              </a:rPr>
              <a:t>Applied every time.</a:t>
            </a:r>
          </a:p>
        </p:txBody>
      </p:sp>
      <p:sp>
        <p:nvSpPr>
          <p:cNvPr id="19" name="TextBox 18"/>
          <p:cNvSpPr txBox="1"/>
          <p:nvPr/>
        </p:nvSpPr>
        <p:spPr>
          <a:xfrm>
            <a:off x="8503920" y="3456432"/>
            <a:ext cx="2852928" cy="1920240"/>
          </a:xfrm>
          <a:prstGeom prst="rect">
            <a:avLst/>
          </a:prstGeom>
          <a:noFill/>
        </p:spPr>
        <p:txBody>
          <a:bodyPr wrap="square" anchor="t" lIns="0" rIns="0" tIns="0" bIns="0">
            <a:spAutoFit/>
          </a:bodyPr>
          <a:lstStyle/>
          <a:p>
            <a:pPr algn="l">
              <a:lnSpc>
                <a:spcPct val="128000"/>
              </a:lnSpc>
            </a:pPr>
            <a:r>
              <a:rPr sz="1200" b="0">
                <a:solidFill>
                  <a:srgbClr val="CADCFC"/>
                </a:solidFill>
                <a:latin typeface="Segoe UI"/>
              </a:rPr>
              <a:t>A new joiner does not need to absorb the house style by osmosis — the agent already has it loaded.</a:t>
            </a:r>
          </a:p>
          <a:p>
            <a:pPr algn="l">
              <a:lnSpc>
                <a:spcPct val="128000"/>
              </a:lnSpc>
            </a:pPr>
            <a:r>
              <a:rPr sz="1200" b="0">
                <a:solidFill>
                  <a:srgbClr val="CADCFC"/>
                </a:solidFill>
                <a:latin typeface="Segoe UI"/>
              </a:rPr>
              <a:t/>
            </a:r>
          </a:p>
          <a:p>
            <a:pPr algn="l">
              <a:lnSpc>
                <a:spcPct val="128000"/>
              </a:lnSpc>
            </a:pPr>
            <a:r>
              <a:rPr sz="1200" b="0">
                <a:solidFill>
                  <a:srgbClr val="CADCFC"/>
                </a:solidFill>
                <a:latin typeface="Segoe UI"/>
              </a:rPr>
              <a:t>Three more rule sets — python, typescript, golang — layer on top when the project language calls for them.</a:t>
            </a:r>
          </a:p>
        </p:txBody>
      </p:sp>
      <p:sp>
        <p:nvSpPr>
          <p:cNvPr id="20" name="TextBox 19"/>
          <p:cNvSpPr txBox="1"/>
          <p:nvPr/>
        </p:nvSpPr>
        <p:spPr>
          <a:xfrm>
            <a:off x="594360" y="5907024"/>
            <a:ext cx="11000232" cy="365760"/>
          </a:xfrm>
          <a:prstGeom prst="rect">
            <a:avLst/>
          </a:prstGeom>
          <a:noFill/>
        </p:spPr>
        <p:txBody>
          <a:bodyPr wrap="square" anchor="t" lIns="0" rIns="0" tIns="0" bIns="0">
            <a:spAutoFit/>
          </a:bodyPr>
          <a:lstStyle/>
          <a:p>
            <a:pPr algn="l"/>
            <a:r>
              <a:rPr sz="1300" b="1">
                <a:solidFill>
                  <a:srgbClr val="1F1F1C"/>
                </a:solidFill>
                <a:latin typeface="Segoe UI"/>
              </a:rPr>
              <a:t>The same files give the team one place to argue about process — a pull request against the way we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First decision: does this task even deserve the process?</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Over-serving a small task is its own failure — it burns time and buries the answer in ceremony</a:t>
            </a:r>
          </a:p>
        </p:txBody>
      </p:sp>
      <p:sp>
        <p:nvSpPr>
          <p:cNvPr id="4" name="Rectangle 3"/>
          <p:cNvSpPr/>
          <p:nvPr/>
        </p:nvSpPr>
        <p:spPr>
          <a:xfrm>
            <a:off x="594360" y="1883664"/>
            <a:ext cx="5394960" cy="2788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2139696"/>
            <a:ext cx="2743200" cy="274320"/>
          </a:xfrm>
          <a:prstGeom prst="rect">
            <a:avLst/>
          </a:prstGeom>
          <a:noFill/>
        </p:spPr>
        <p:txBody>
          <a:bodyPr wrap="square" anchor="t" lIns="0" rIns="0" tIns="0" bIns="0">
            <a:spAutoFit/>
          </a:bodyPr>
          <a:lstStyle/>
          <a:p>
            <a:pPr algn="l"/>
            <a:r>
              <a:rPr sz="1200" b="1">
                <a:solidFill>
                  <a:srgbClr val="4F7A3F"/>
                </a:solidFill>
                <a:latin typeface="Consolas"/>
              </a:rPr>
              <a:t>FAST PATH</a:t>
            </a:r>
          </a:p>
        </p:txBody>
      </p:sp>
      <p:sp>
        <p:nvSpPr>
          <p:cNvPr id="6" name="TextBox 5"/>
          <p:cNvSpPr txBox="1"/>
          <p:nvPr/>
        </p:nvSpPr>
        <p:spPr>
          <a:xfrm>
            <a:off x="886968" y="2432304"/>
            <a:ext cx="4846320" cy="365760"/>
          </a:xfrm>
          <a:prstGeom prst="rect">
            <a:avLst/>
          </a:prstGeom>
          <a:noFill/>
        </p:spPr>
        <p:txBody>
          <a:bodyPr wrap="square" anchor="t" lIns="0" rIns="0" tIns="0" bIns="0">
            <a:spAutoFit/>
          </a:bodyPr>
          <a:lstStyle/>
          <a:p>
            <a:pPr algn="l"/>
            <a:r>
              <a:rPr sz="1700" b="1">
                <a:solidFill>
                  <a:srgbClr val="1F1F1C"/>
                </a:solidFill>
                <a:latin typeface="Segoe UI"/>
              </a:rPr>
              <a:t>When all three hold</a:t>
            </a:r>
          </a:p>
        </p:txBody>
      </p:sp>
      <p:sp>
        <p:nvSpPr>
          <p:cNvPr id="7" name="TextBox 6"/>
          <p:cNvSpPr txBox="1"/>
          <p:nvPr/>
        </p:nvSpPr>
        <p:spPr>
          <a:xfrm>
            <a:off x="886968" y="2871216"/>
            <a:ext cx="4828032" cy="1463040"/>
          </a:xfrm>
          <a:prstGeom prst="rect">
            <a:avLst/>
          </a:prstGeom>
          <a:noFill/>
        </p:spPr>
        <p:txBody>
          <a:bodyPr wrap="square" anchor="t" lIns="0" rIns="0" tIns="0" bIns="0">
            <a:spAutoFit/>
          </a:bodyPr>
          <a:lstStyle/>
          <a:p>
            <a:pPr algn="l">
              <a:lnSpc>
                <a:spcPct val="115000"/>
              </a:lnSpc>
              <a:spcAft>
                <a:spcPts val="500"/>
              </a:spcAft>
            </a:pPr>
            <a:r>
              <a:rPr sz="1250" b="0">
                <a:solidFill>
                  <a:srgbClr val="66665F"/>
                </a:solidFill>
                <a:latin typeface="Segoe UI"/>
              </a:rPr>
              <a:t>—  one file, or a style / config / copy value</a:t>
            </a:r>
          </a:p>
          <a:p>
            <a:pPr algn="l">
              <a:lnSpc>
                <a:spcPct val="115000"/>
              </a:lnSpc>
              <a:spcAft>
                <a:spcPts val="500"/>
              </a:spcAft>
            </a:pPr>
            <a:r>
              <a:rPr sz="1250" b="0">
                <a:solidFill>
                  <a:srgbClr val="66665F"/>
                </a:solidFill>
                <a:latin typeface="Segoe UI"/>
              </a:rPr>
              <a:t>—  no new behaviour, no new dependency, no schema change, no money math</a:t>
            </a:r>
          </a:p>
          <a:p>
            <a:pPr algn="l">
              <a:lnSpc>
                <a:spcPct val="115000"/>
              </a:lnSpc>
              <a:spcAft>
                <a:spcPts val="500"/>
              </a:spcAft>
            </a:pPr>
            <a:r>
              <a:rPr sz="1250" b="0">
                <a:solidFill>
                  <a:srgbClr val="66665F"/>
                </a:solidFill>
                <a:latin typeface="Segoe UI"/>
              </a:rPr>
              <a:t>—  existing tests already cover it, or no test is warranted</a:t>
            </a:r>
          </a:p>
        </p:txBody>
      </p:sp>
      <p:sp>
        <p:nvSpPr>
          <p:cNvPr id="8" name="Rectangle 7"/>
          <p:cNvSpPr/>
          <p:nvPr/>
        </p:nvSpPr>
        <p:spPr>
          <a:xfrm>
            <a:off x="886968" y="4041648"/>
            <a:ext cx="4809744"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4206240"/>
            <a:ext cx="4828032" cy="365760"/>
          </a:xfrm>
          <a:prstGeom prst="rect">
            <a:avLst/>
          </a:prstGeom>
          <a:noFill/>
        </p:spPr>
        <p:txBody>
          <a:bodyPr wrap="square" anchor="t" lIns="0" rIns="0" tIns="0" bIns="0">
            <a:spAutoFit/>
          </a:bodyPr>
          <a:lstStyle/>
          <a:p>
            <a:pPr algn="l">
              <a:lnSpc>
                <a:spcPct val="120000"/>
              </a:lnSpc>
            </a:pPr>
            <a:r>
              <a:rPr sz="1250" b="1">
                <a:solidFill>
                  <a:srgbClr val="1F1F1C"/>
                </a:solidFill>
                <a:latin typeface="Segoe UI"/>
              </a:rPr>
              <a:t>Make the change, run only the checks that touch it, say what you did in two sentences.</a:t>
            </a:r>
          </a:p>
        </p:txBody>
      </p:sp>
      <p:sp>
        <p:nvSpPr>
          <p:cNvPr id="10" name="Rectangle 9"/>
          <p:cNvSpPr/>
          <p:nvPr/>
        </p:nvSpPr>
        <p:spPr>
          <a:xfrm>
            <a:off x="6199632" y="1883664"/>
            <a:ext cx="5394960" cy="2788920"/>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139696"/>
            <a:ext cx="2743200" cy="274320"/>
          </a:xfrm>
          <a:prstGeom prst="rect">
            <a:avLst/>
          </a:prstGeom>
          <a:noFill/>
        </p:spPr>
        <p:txBody>
          <a:bodyPr wrap="square" anchor="t" lIns="0" rIns="0" tIns="0" bIns="0">
            <a:spAutoFit/>
          </a:bodyPr>
          <a:lstStyle/>
          <a:p>
            <a:pPr algn="l"/>
            <a:r>
              <a:rPr sz="1200" b="1">
                <a:solidFill>
                  <a:srgbClr val="CADCFC"/>
                </a:solidFill>
                <a:latin typeface="Consolas"/>
              </a:rPr>
              <a:t>FULL ORCHESTRATION</a:t>
            </a:r>
          </a:p>
        </p:txBody>
      </p:sp>
      <p:sp>
        <p:nvSpPr>
          <p:cNvPr id="12" name="TextBox 11"/>
          <p:cNvSpPr txBox="1"/>
          <p:nvPr/>
        </p:nvSpPr>
        <p:spPr>
          <a:xfrm>
            <a:off x="6492240" y="2432304"/>
            <a:ext cx="4846320" cy="365760"/>
          </a:xfrm>
          <a:prstGeom prst="rect">
            <a:avLst/>
          </a:prstGeom>
          <a:noFill/>
        </p:spPr>
        <p:txBody>
          <a:bodyPr wrap="square" anchor="t" lIns="0" rIns="0" tIns="0" bIns="0">
            <a:spAutoFit/>
          </a:bodyPr>
          <a:lstStyle/>
          <a:p>
            <a:pPr algn="l"/>
            <a:r>
              <a:rPr sz="1700" b="1">
                <a:solidFill>
                  <a:srgbClr val="FFFFFF"/>
                </a:solidFill>
                <a:latin typeface="Segoe UI"/>
              </a:rPr>
              <a:t>Everything else</a:t>
            </a:r>
          </a:p>
        </p:txBody>
      </p:sp>
      <p:sp>
        <p:nvSpPr>
          <p:cNvPr id="13" name="TextBox 12"/>
          <p:cNvSpPr txBox="1"/>
          <p:nvPr/>
        </p:nvSpPr>
        <p:spPr>
          <a:xfrm>
            <a:off x="6492240" y="2871216"/>
            <a:ext cx="4828032" cy="1463040"/>
          </a:xfrm>
          <a:prstGeom prst="rect">
            <a:avLst/>
          </a:prstGeom>
          <a:noFill/>
        </p:spPr>
        <p:txBody>
          <a:bodyPr wrap="square" anchor="t" lIns="0" rIns="0" tIns="0" bIns="0">
            <a:spAutoFit/>
          </a:bodyPr>
          <a:lstStyle/>
          <a:p>
            <a:pPr algn="l">
              <a:lnSpc>
                <a:spcPct val="115000"/>
              </a:lnSpc>
              <a:spcAft>
                <a:spcPts val="500"/>
              </a:spcAft>
            </a:pPr>
            <a:r>
              <a:rPr sz="1250" b="0">
                <a:solidFill>
                  <a:srgbClr val="CADCFC"/>
                </a:solidFill>
                <a:latin typeface="Segoe UI"/>
              </a:rPr>
              <a:t>—  multi-file changes</a:t>
            </a:r>
          </a:p>
          <a:p>
            <a:pPr algn="l">
              <a:lnSpc>
                <a:spcPct val="115000"/>
              </a:lnSpc>
              <a:spcAft>
                <a:spcPts val="500"/>
              </a:spcAft>
            </a:pPr>
            <a:r>
              <a:rPr sz="1250" b="0">
                <a:solidFill>
                  <a:srgbClr val="CADCFC"/>
                </a:solidFill>
                <a:latin typeface="Segoe UI"/>
              </a:rPr>
              <a:t>—  new features</a:t>
            </a:r>
          </a:p>
          <a:p>
            <a:pPr algn="l">
              <a:lnSpc>
                <a:spcPct val="115000"/>
              </a:lnSpc>
              <a:spcAft>
                <a:spcPts val="500"/>
              </a:spcAft>
            </a:pPr>
            <a:r>
              <a:rPr sz="1250" b="0">
                <a:solidFill>
                  <a:srgbClr val="CADCFC"/>
                </a:solidFill>
                <a:latin typeface="Segoe UI"/>
              </a:rPr>
              <a:t>—  refactors</a:t>
            </a:r>
          </a:p>
          <a:p>
            <a:pPr algn="l">
              <a:lnSpc>
                <a:spcPct val="115000"/>
              </a:lnSpc>
              <a:spcAft>
                <a:spcPts val="500"/>
              </a:spcAft>
            </a:pPr>
            <a:r>
              <a:rPr sz="1250" b="0">
                <a:solidFill>
                  <a:srgbClr val="CADCFC"/>
                </a:solidFill>
                <a:latin typeface="Segoe UI"/>
              </a:rPr>
              <a:t>—  bugs with an unclear root cause</a:t>
            </a:r>
          </a:p>
        </p:txBody>
      </p:sp>
      <p:sp>
        <p:nvSpPr>
          <p:cNvPr id="14" name="TextBox 13"/>
          <p:cNvSpPr txBox="1"/>
          <p:nvPr/>
        </p:nvSpPr>
        <p:spPr>
          <a:xfrm>
            <a:off x="6492240" y="4206240"/>
            <a:ext cx="4828032" cy="365760"/>
          </a:xfrm>
          <a:prstGeom prst="rect">
            <a:avLst/>
          </a:prstGeom>
          <a:noFill/>
        </p:spPr>
        <p:txBody>
          <a:bodyPr wrap="square" anchor="t" lIns="0" rIns="0" tIns="0" bIns="0">
            <a:spAutoFit/>
          </a:bodyPr>
          <a:lstStyle/>
          <a:p>
            <a:pPr algn="l">
              <a:lnSpc>
                <a:spcPct val="120000"/>
              </a:lnSpc>
            </a:pPr>
            <a:r>
              <a:rPr sz="1250" b="1">
                <a:solidFill>
                  <a:srgbClr val="FFFFFF"/>
                </a:solidFill>
                <a:latin typeface="Segoe UI"/>
              </a:rPr>
              <a:t>Skill check → plan → checkpoint → execute → verify → commit.</a:t>
            </a:r>
          </a:p>
        </p:txBody>
      </p:sp>
      <p:sp>
        <p:nvSpPr>
          <p:cNvPr id="15" name="Rectangle 14"/>
          <p:cNvSpPr/>
          <p:nvPr/>
        </p:nvSpPr>
        <p:spPr>
          <a:xfrm>
            <a:off x="594360" y="4956048"/>
            <a:ext cx="11000232" cy="987552"/>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5120640"/>
            <a:ext cx="10424160" cy="274320"/>
          </a:xfrm>
          <a:prstGeom prst="rect">
            <a:avLst/>
          </a:prstGeom>
          <a:noFill/>
        </p:spPr>
        <p:txBody>
          <a:bodyPr wrap="square" anchor="t" lIns="0" rIns="0" tIns="0" bIns="0">
            <a:spAutoFit/>
          </a:bodyPr>
          <a:lstStyle/>
          <a:p>
            <a:pPr algn="l"/>
            <a:r>
              <a:rPr sz="1050" b="1">
                <a:solidFill>
                  <a:srgbClr val="9A9A93"/>
                </a:solidFill>
                <a:latin typeface="Consolas"/>
              </a:rPr>
              <a:t>AND THE ESCAPE HATCH</a:t>
            </a:r>
          </a:p>
        </p:txBody>
      </p:sp>
      <p:sp>
        <p:nvSpPr>
          <p:cNvPr id="17" name="TextBox 16"/>
          <p:cNvSpPr txBox="1"/>
          <p:nvPr/>
        </p:nvSpPr>
        <p:spPr>
          <a:xfrm>
            <a:off x="886968" y="5394960"/>
            <a:ext cx="10424160" cy="457200"/>
          </a:xfrm>
          <a:prstGeom prst="rect">
            <a:avLst/>
          </a:prstGeom>
          <a:noFill/>
        </p:spPr>
        <p:txBody>
          <a:bodyPr wrap="square" anchor="t" lIns="0" rIns="0" tIns="0" bIns="0">
            <a:spAutoFit/>
          </a:bodyPr>
          <a:lstStyle/>
          <a:p>
            <a:pPr algn="l">
              <a:lnSpc>
                <a:spcPct val="120000"/>
              </a:lnSpc>
            </a:pPr>
            <a:r>
              <a:rPr sz="1300" b="1">
                <a:solidFill>
                  <a:srgbClr val="1F1F1C"/>
                </a:solidFill>
                <a:latin typeface="Segoe UI"/>
              </a:rPr>
              <a:t>If it turns out to be bigger once you are in the file — stop and restart at the top. Discovering the fast path was wrong is cheap. Continuing down it because you already started is not.</a:t>
            </a:r>
          </a:p>
        </p:txBody>
      </p:sp>
      <p:sp>
        <p:nvSpPr>
          <p:cNvPr id="18" name="TextBox 17"/>
          <p:cNvSpPr txBox="1"/>
          <p:nvPr/>
        </p:nvSpPr>
        <p:spPr>
          <a:xfrm>
            <a:off x="594360" y="6144768"/>
            <a:ext cx="11000232" cy="365760"/>
          </a:xfrm>
          <a:prstGeom prst="rect">
            <a:avLst/>
          </a:prstGeom>
          <a:noFill/>
        </p:spPr>
        <p:txBody>
          <a:bodyPr wrap="square" anchor="t" lIns="0" rIns="0" tIns="0" bIns="0">
            <a:spAutoFit/>
          </a:bodyPr>
          <a:lstStyle/>
          <a:p>
            <a:pPr algn="l"/>
            <a:r>
              <a:rPr sz="1250" b="0">
                <a:solidFill>
                  <a:srgbClr val="9A9A93"/>
                </a:solidFill>
                <a:latin typeface="Segoe UI"/>
              </a:rPr>
              <a:t>This slide is v2. Version one had no fast path — so a one-line CSS fix would summon a planner, a test author and two reviewers.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The orchestrated flow — six steps</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Dispatched by the main session, each specialist in its own context — and one of the six is non-negotiable</a:t>
            </a:r>
          </a:p>
        </p:txBody>
      </p:sp>
      <p:sp>
        <p:nvSpPr>
          <p:cNvPr id="4" name="Rectangle 3"/>
          <p:cNvSpPr/>
          <p:nvPr/>
        </p:nvSpPr>
        <p:spPr>
          <a:xfrm>
            <a:off x="594360" y="1865376"/>
            <a:ext cx="402336" cy="365760"/>
          </a:xfrm>
          <a:prstGeom prst="rect">
            <a:avLst/>
          </a:prstGeom>
          <a:solidFill>
            <a:srgbClr val="8FA8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65376"/>
            <a:ext cx="402336" cy="365760"/>
          </a:xfrm>
          <a:prstGeom prst="rect">
            <a:avLst/>
          </a:prstGeom>
          <a:noFill/>
        </p:spPr>
        <p:txBody>
          <a:bodyPr wrap="square" anchor="ctr" lIns="0" rIns="0" tIns="0" bIns="0">
            <a:spAutoFit/>
          </a:bodyPr>
          <a:lstStyle/>
          <a:p>
            <a:pPr algn="ctr"/>
            <a:r>
              <a:rPr sz="1400" b="1">
                <a:solidFill>
                  <a:srgbClr val="FFFFFF"/>
                </a:solidFill>
                <a:latin typeface="Consolas"/>
              </a:rPr>
              <a:t>0</a:t>
            </a:r>
          </a:p>
        </p:txBody>
      </p:sp>
      <p:sp>
        <p:nvSpPr>
          <p:cNvPr id="6" name="TextBox 5"/>
          <p:cNvSpPr txBox="1"/>
          <p:nvPr/>
        </p:nvSpPr>
        <p:spPr>
          <a:xfrm>
            <a:off x="1161288" y="1847088"/>
            <a:ext cx="1600200" cy="310896"/>
          </a:xfrm>
          <a:prstGeom prst="rect">
            <a:avLst/>
          </a:prstGeom>
          <a:noFill/>
        </p:spPr>
        <p:txBody>
          <a:bodyPr wrap="square" anchor="t" lIns="0" rIns="0" tIns="0" bIns="0">
            <a:spAutoFit/>
          </a:bodyPr>
          <a:lstStyle/>
          <a:p>
            <a:pPr algn="l"/>
            <a:r>
              <a:rPr sz="1500" b="1">
                <a:solidFill>
                  <a:srgbClr val="1F1F1C"/>
                </a:solidFill>
                <a:latin typeface="Segoe UI"/>
              </a:rPr>
              <a:t>Skill check</a:t>
            </a:r>
          </a:p>
        </p:txBody>
      </p:sp>
      <p:sp>
        <p:nvSpPr>
          <p:cNvPr id="7" name="TextBox 6"/>
          <p:cNvSpPr txBox="1"/>
          <p:nvPr/>
        </p:nvSpPr>
        <p:spPr>
          <a:xfrm>
            <a:off x="2880360" y="1865376"/>
            <a:ext cx="4937760" cy="621792"/>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Declared in chat before the first tool call: which skills apply, which agents run, in what order. 'None apply' is valid — but it must be written.</a:t>
            </a:r>
          </a:p>
        </p:txBody>
      </p:sp>
      <p:sp>
        <p:nvSpPr>
          <p:cNvPr id="8" name="Rectangle 7"/>
          <p:cNvSpPr/>
          <p:nvPr/>
        </p:nvSpPr>
        <p:spPr>
          <a:xfrm>
            <a:off x="594360" y="2468879"/>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578608"/>
            <a:ext cx="402336" cy="365760"/>
          </a:xfrm>
          <a:prstGeom prst="rect">
            <a:avLst/>
          </a:prstGeom>
          <a:solidFill>
            <a:srgbClr val="8FA8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578608"/>
            <a:ext cx="402336" cy="365760"/>
          </a:xfrm>
          <a:prstGeom prst="rect">
            <a:avLst/>
          </a:prstGeom>
          <a:noFill/>
        </p:spPr>
        <p:txBody>
          <a:bodyPr wrap="square" anchor="ctr" lIns="0" rIns="0" tIns="0" bIns="0">
            <a:spAutoFit/>
          </a:bodyPr>
          <a:lstStyle/>
          <a:p>
            <a:pPr algn="ctr"/>
            <a:r>
              <a:rPr sz="1400" b="1">
                <a:solidFill>
                  <a:srgbClr val="FFFFFF"/>
                </a:solidFill>
                <a:latin typeface="Consolas"/>
              </a:rPr>
              <a:t>1</a:t>
            </a:r>
          </a:p>
        </p:txBody>
      </p:sp>
      <p:sp>
        <p:nvSpPr>
          <p:cNvPr id="11" name="TextBox 10"/>
          <p:cNvSpPr txBox="1"/>
          <p:nvPr/>
        </p:nvSpPr>
        <p:spPr>
          <a:xfrm>
            <a:off x="1161288" y="2560320"/>
            <a:ext cx="1600200" cy="310896"/>
          </a:xfrm>
          <a:prstGeom prst="rect">
            <a:avLst/>
          </a:prstGeom>
          <a:noFill/>
        </p:spPr>
        <p:txBody>
          <a:bodyPr wrap="square" anchor="t" lIns="0" rIns="0" tIns="0" bIns="0">
            <a:spAutoFit/>
          </a:bodyPr>
          <a:lstStyle/>
          <a:p>
            <a:pPr algn="l"/>
            <a:r>
              <a:rPr sz="1500" b="1">
                <a:solidFill>
                  <a:srgbClr val="1F1F1C"/>
                </a:solidFill>
                <a:latin typeface="Segoe UI"/>
              </a:rPr>
              <a:t>Plan</a:t>
            </a:r>
          </a:p>
        </p:txBody>
      </p:sp>
      <p:sp>
        <p:nvSpPr>
          <p:cNvPr id="12" name="TextBox 11"/>
          <p:cNvSpPr txBox="1"/>
          <p:nvPr/>
        </p:nvSpPr>
        <p:spPr>
          <a:xfrm>
            <a:off x="2880360" y="2578608"/>
            <a:ext cx="4937760" cy="621792"/>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A planning agent produces the implementation plan and hands it back.</a:t>
            </a:r>
          </a:p>
        </p:txBody>
      </p:sp>
      <p:sp>
        <p:nvSpPr>
          <p:cNvPr id="13" name="Rectangle 12"/>
          <p:cNvSpPr/>
          <p:nvPr/>
        </p:nvSpPr>
        <p:spPr>
          <a:xfrm>
            <a:off x="594360" y="3182112"/>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291840"/>
            <a:ext cx="402336" cy="365760"/>
          </a:xfrm>
          <a:prstGeom prst="rect">
            <a:avLst/>
          </a:prstGeom>
          <a:solidFill>
            <a:srgbClr val="244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291840"/>
            <a:ext cx="402336" cy="365760"/>
          </a:xfrm>
          <a:prstGeom prst="rect">
            <a:avLst/>
          </a:prstGeom>
          <a:noFill/>
        </p:spPr>
        <p:txBody>
          <a:bodyPr wrap="square" anchor="ctr" lIns="0" rIns="0" tIns="0" bIns="0">
            <a:spAutoFit/>
          </a:bodyPr>
          <a:lstStyle/>
          <a:p>
            <a:pPr algn="ctr"/>
            <a:r>
              <a:rPr sz="1400" b="1">
                <a:solidFill>
                  <a:srgbClr val="FFFFFF"/>
                </a:solidFill>
                <a:latin typeface="Consolas"/>
              </a:rPr>
              <a:t>2</a:t>
            </a:r>
          </a:p>
        </p:txBody>
      </p:sp>
      <p:sp>
        <p:nvSpPr>
          <p:cNvPr id="16" name="TextBox 15"/>
          <p:cNvSpPr txBox="1"/>
          <p:nvPr/>
        </p:nvSpPr>
        <p:spPr>
          <a:xfrm>
            <a:off x="1161288" y="3273552"/>
            <a:ext cx="1600200" cy="310896"/>
          </a:xfrm>
          <a:prstGeom prst="rect">
            <a:avLst/>
          </a:prstGeom>
          <a:noFill/>
        </p:spPr>
        <p:txBody>
          <a:bodyPr wrap="square" anchor="t" lIns="0" rIns="0" tIns="0" bIns="0">
            <a:spAutoFit/>
          </a:bodyPr>
          <a:lstStyle/>
          <a:p>
            <a:pPr algn="l"/>
            <a:r>
              <a:rPr sz="1500" b="1">
                <a:solidFill>
                  <a:srgbClr val="1F1F1C"/>
                </a:solidFill>
                <a:latin typeface="Segoe UI"/>
              </a:rPr>
              <a:t>Checkpoint</a:t>
            </a:r>
          </a:p>
        </p:txBody>
      </p:sp>
      <p:sp>
        <p:nvSpPr>
          <p:cNvPr id="17" name="TextBox 16"/>
          <p:cNvSpPr txBox="1"/>
          <p:nvPr/>
        </p:nvSpPr>
        <p:spPr>
          <a:xfrm>
            <a:off x="2880360" y="3291840"/>
            <a:ext cx="4937760" cy="621792"/>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Stop. Wait for human approval. One word is enough — but it has to come from a person.</a:t>
            </a:r>
          </a:p>
        </p:txBody>
      </p:sp>
      <p:sp>
        <p:nvSpPr>
          <p:cNvPr id="18" name="Rectangle 17"/>
          <p:cNvSpPr/>
          <p:nvPr/>
        </p:nvSpPr>
        <p:spPr>
          <a:xfrm>
            <a:off x="594360" y="3895344"/>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4005072"/>
            <a:ext cx="402336" cy="365760"/>
          </a:xfrm>
          <a:prstGeom prst="rect">
            <a:avLst/>
          </a:prstGeom>
          <a:solidFill>
            <a:srgbClr val="8FA8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005072"/>
            <a:ext cx="402336" cy="365760"/>
          </a:xfrm>
          <a:prstGeom prst="rect">
            <a:avLst/>
          </a:prstGeom>
          <a:noFill/>
        </p:spPr>
        <p:txBody>
          <a:bodyPr wrap="square" anchor="ctr" lIns="0" rIns="0" tIns="0" bIns="0">
            <a:spAutoFit/>
          </a:bodyPr>
          <a:lstStyle/>
          <a:p>
            <a:pPr algn="ctr"/>
            <a:r>
              <a:rPr sz="1400" b="1">
                <a:solidFill>
                  <a:srgbClr val="FFFFFF"/>
                </a:solidFill>
                <a:latin typeface="Consolas"/>
              </a:rPr>
              <a:t>3</a:t>
            </a:r>
          </a:p>
        </p:txBody>
      </p:sp>
      <p:sp>
        <p:nvSpPr>
          <p:cNvPr id="21" name="TextBox 20"/>
          <p:cNvSpPr txBox="1"/>
          <p:nvPr/>
        </p:nvSpPr>
        <p:spPr>
          <a:xfrm>
            <a:off x="1161288" y="3986784"/>
            <a:ext cx="1600200" cy="310896"/>
          </a:xfrm>
          <a:prstGeom prst="rect">
            <a:avLst/>
          </a:prstGeom>
          <a:noFill/>
        </p:spPr>
        <p:txBody>
          <a:bodyPr wrap="square" anchor="t" lIns="0" rIns="0" tIns="0" bIns="0">
            <a:spAutoFit/>
          </a:bodyPr>
          <a:lstStyle/>
          <a:p>
            <a:pPr algn="l"/>
            <a:r>
              <a:rPr sz="1500" b="1">
                <a:solidFill>
                  <a:srgbClr val="1F1F1C"/>
                </a:solidFill>
                <a:latin typeface="Segoe UI"/>
              </a:rPr>
              <a:t>Execute</a:t>
            </a:r>
          </a:p>
        </p:txBody>
      </p:sp>
      <p:sp>
        <p:nvSpPr>
          <p:cNvPr id="22" name="TextBox 21"/>
          <p:cNvSpPr txBox="1"/>
          <p:nvPr/>
        </p:nvSpPr>
        <p:spPr>
          <a:xfrm>
            <a:off x="2880360" y="4005072"/>
            <a:ext cx="4937760" cy="621792"/>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Tests first, then implementation. Code review on the diff. Security review in parallel when auth, user input, endpoints or secrets are touched.</a:t>
            </a:r>
          </a:p>
        </p:txBody>
      </p:sp>
      <p:sp>
        <p:nvSpPr>
          <p:cNvPr id="23" name="Rectangle 22"/>
          <p:cNvSpPr/>
          <p:nvPr/>
        </p:nvSpPr>
        <p:spPr>
          <a:xfrm>
            <a:off x="594360" y="4608576"/>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 y="4718304"/>
            <a:ext cx="402336" cy="365760"/>
          </a:xfrm>
          <a:prstGeom prst="rect">
            <a:avLst/>
          </a:prstGeom>
          <a:solidFill>
            <a:srgbClr val="8FA8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718304"/>
            <a:ext cx="402336" cy="365760"/>
          </a:xfrm>
          <a:prstGeom prst="rect">
            <a:avLst/>
          </a:prstGeom>
          <a:noFill/>
        </p:spPr>
        <p:txBody>
          <a:bodyPr wrap="square" anchor="ctr" lIns="0" rIns="0" tIns="0" bIns="0">
            <a:spAutoFit/>
          </a:bodyPr>
          <a:lstStyle/>
          <a:p>
            <a:pPr algn="ctr"/>
            <a:r>
              <a:rPr sz="1400" b="1">
                <a:solidFill>
                  <a:srgbClr val="FFFFFF"/>
                </a:solidFill>
                <a:latin typeface="Consolas"/>
              </a:rPr>
              <a:t>4</a:t>
            </a:r>
          </a:p>
        </p:txBody>
      </p:sp>
      <p:sp>
        <p:nvSpPr>
          <p:cNvPr id="26" name="TextBox 25"/>
          <p:cNvSpPr txBox="1"/>
          <p:nvPr/>
        </p:nvSpPr>
        <p:spPr>
          <a:xfrm>
            <a:off x="1161288" y="4700016"/>
            <a:ext cx="1600200" cy="310896"/>
          </a:xfrm>
          <a:prstGeom prst="rect">
            <a:avLst/>
          </a:prstGeom>
          <a:noFill/>
        </p:spPr>
        <p:txBody>
          <a:bodyPr wrap="square" anchor="t" lIns="0" rIns="0" tIns="0" bIns="0">
            <a:spAutoFit/>
          </a:bodyPr>
          <a:lstStyle/>
          <a:p>
            <a:pPr algn="l"/>
            <a:r>
              <a:rPr sz="1500" b="1">
                <a:solidFill>
                  <a:srgbClr val="1F1F1C"/>
                </a:solidFill>
                <a:latin typeface="Segoe UI"/>
              </a:rPr>
              <a:t>Verify</a:t>
            </a:r>
          </a:p>
        </p:txBody>
      </p:sp>
      <p:sp>
        <p:nvSpPr>
          <p:cNvPr id="27" name="TextBox 26"/>
          <p:cNvSpPr txBox="1"/>
          <p:nvPr/>
        </p:nvSpPr>
        <p:spPr>
          <a:xfrm>
            <a:off x="2880360" y="4718304"/>
            <a:ext cx="4937760" cy="621792"/>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Run the tests, the typecheck and the lint for every area touched — and paste the real output.</a:t>
            </a:r>
          </a:p>
        </p:txBody>
      </p:sp>
      <p:sp>
        <p:nvSpPr>
          <p:cNvPr id="28" name="Rectangle 27"/>
          <p:cNvSpPr/>
          <p:nvPr/>
        </p:nvSpPr>
        <p:spPr>
          <a:xfrm>
            <a:off x="594360" y="5321808"/>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360" y="5431536"/>
            <a:ext cx="402336" cy="365760"/>
          </a:xfrm>
          <a:prstGeom prst="rect">
            <a:avLst/>
          </a:prstGeom>
          <a:solidFill>
            <a:srgbClr val="8FA8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5431536"/>
            <a:ext cx="402336" cy="365760"/>
          </a:xfrm>
          <a:prstGeom prst="rect">
            <a:avLst/>
          </a:prstGeom>
          <a:noFill/>
        </p:spPr>
        <p:txBody>
          <a:bodyPr wrap="square" anchor="ctr" lIns="0" rIns="0" tIns="0" bIns="0">
            <a:spAutoFit/>
          </a:bodyPr>
          <a:lstStyle/>
          <a:p>
            <a:pPr algn="ctr"/>
            <a:r>
              <a:rPr sz="1400" b="1">
                <a:solidFill>
                  <a:srgbClr val="FFFFFF"/>
                </a:solidFill>
                <a:latin typeface="Consolas"/>
              </a:rPr>
              <a:t>5</a:t>
            </a:r>
          </a:p>
        </p:txBody>
      </p:sp>
      <p:sp>
        <p:nvSpPr>
          <p:cNvPr id="31" name="TextBox 30"/>
          <p:cNvSpPr txBox="1"/>
          <p:nvPr/>
        </p:nvSpPr>
        <p:spPr>
          <a:xfrm>
            <a:off x="1161288" y="5413248"/>
            <a:ext cx="1600200" cy="310896"/>
          </a:xfrm>
          <a:prstGeom prst="rect">
            <a:avLst/>
          </a:prstGeom>
          <a:noFill/>
        </p:spPr>
        <p:txBody>
          <a:bodyPr wrap="square" anchor="t" lIns="0" rIns="0" tIns="0" bIns="0">
            <a:spAutoFit/>
          </a:bodyPr>
          <a:lstStyle/>
          <a:p>
            <a:pPr algn="l"/>
            <a:r>
              <a:rPr sz="1500" b="1">
                <a:solidFill>
                  <a:srgbClr val="1F1F1C"/>
                </a:solidFill>
                <a:latin typeface="Segoe UI"/>
              </a:rPr>
              <a:t>Commit</a:t>
            </a:r>
          </a:p>
        </p:txBody>
      </p:sp>
      <p:sp>
        <p:nvSpPr>
          <p:cNvPr id="32" name="TextBox 31"/>
          <p:cNvSpPr txBox="1"/>
          <p:nvPr/>
        </p:nvSpPr>
        <p:spPr>
          <a:xfrm>
            <a:off x="2880360" y="5431536"/>
            <a:ext cx="4937760" cy="621792"/>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Local commit on the current branch. Push and PR stay manual unless asked.</a:t>
            </a:r>
          </a:p>
        </p:txBody>
      </p:sp>
      <p:sp>
        <p:nvSpPr>
          <p:cNvPr id="33" name="Rectangle 32"/>
          <p:cNvSpPr/>
          <p:nvPr/>
        </p:nvSpPr>
        <p:spPr>
          <a:xfrm>
            <a:off x="8229600" y="1847088"/>
            <a:ext cx="3364992" cy="3749039"/>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03920" y="2139696"/>
            <a:ext cx="2834640" cy="274320"/>
          </a:xfrm>
          <a:prstGeom prst="rect">
            <a:avLst/>
          </a:prstGeom>
          <a:noFill/>
        </p:spPr>
        <p:txBody>
          <a:bodyPr wrap="square" anchor="t" lIns="0" rIns="0" tIns="0" bIns="0">
            <a:spAutoFit/>
          </a:bodyPr>
          <a:lstStyle/>
          <a:p>
            <a:pPr algn="l"/>
            <a:r>
              <a:rPr sz="1050" b="1">
                <a:solidFill>
                  <a:srgbClr val="CADCFC"/>
                </a:solidFill>
                <a:latin typeface="Consolas"/>
              </a:rPr>
              <a:t>STEP 2 IS THE PRODUCT</a:t>
            </a:r>
          </a:p>
        </p:txBody>
      </p:sp>
      <p:sp>
        <p:nvSpPr>
          <p:cNvPr id="35" name="TextBox 34"/>
          <p:cNvSpPr txBox="1"/>
          <p:nvPr/>
        </p:nvSpPr>
        <p:spPr>
          <a:xfrm>
            <a:off x="8503920" y="2505456"/>
            <a:ext cx="2852928" cy="822960"/>
          </a:xfrm>
          <a:prstGeom prst="rect">
            <a:avLst/>
          </a:prstGeom>
          <a:noFill/>
        </p:spPr>
        <p:txBody>
          <a:bodyPr wrap="square" anchor="t" lIns="0" rIns="0" tIns="0" bIns="0">
            <a:spAutoFit/>
          </a:bodyPr>
          <a:lstStyle/>
          <a:p>
            <a:pPr algn="l">
              <a:lnSpc>
                <a:spcPct val="115000"/>
              </a:lnSpc>
            </a:pPr>
            <a:r>
              <a:rPr sz="2000" b="1">
                <a:solidFill>
                  <a:srgbClr val="FFFFFF"/>
                </a:solidFill>
                <a:latin typeface="Segoe UI"/>
              </a:rPr>
              <a:t>The checkpoint is not optional</a:t>
            </a:r>
          </a:p>
        </p:txBody>
      </p:sp>
      <p:sp>
        <p:nvSpPr>
          <p:cNvPr id="36" name="TextBox 35"/>
          <p:cNvSpPr txBox="1"/>
          <p:nvPr/>
        </p:nvSpPr>
        <p:spPr>
          <a:xfrm>
            <a:off x="8503920" y="3639312"/>
            <a:ext cx="2852928" cy="1828800"/>
          </a:xfrm>
          <a:prstGeom prst="rect">
            <a:avLst/>
          </a:prstGeom>
          <a:noFill/>
        </p:spPr>
        <p:txBody>
          <a:bodyPr wrap="square" anchor="t" lIns="0" rIns="0" tIns="0" bIns="0">
            <a:spAutoFit/>
          </a:bodyPr>
          <a:lstStyle/>
          <a:p>
            <a:pPr algn="l">
              <a:lnSpc>
                <a:spcPct val="128000"/>
              </a:lnSpc>
            </a:pPr>
            <a:r>
              <a:rPr sz="1200" b="0">
                <a:solidFill>
                  <a:srgbClr val="CADCFC"/>
                </a:solidFill>
                <a:latin typeface="Segoe UI"/>
              </a:rPr>
              <a:t>'The task seemed clear so I proceeded' is not approval.</a:t>
            </a:r>
          </a:p>
          <a:p>
            <a:pPr algn="l">
              <a:lnSpc>
                <a:spcPct val="128000"/>
              </a:lnSpc>
            </a:pPr>
            <a:r>
              <a:rPr sz="1200" b="0">
                <a:solidFill>
                  <a:srgbClr val="CADCFC"/>
                </a:solidFill>
                <a:latin typeface="Segoe UI"/>
              </a:rPr>
              <a:t/>
            </a:r>
          </a:p>
          <a:p>
            <a:pPr algn="l">
              <a:lnSpc>
                <a:spcPct val="128000"/>
              </a:lnSpc>
            </a:pPr>
            <a:r>
              <a:rPr sz="1200" b="0">
                <a:solidFill>
                  <a:srgbClr val="CADCFC"/>
                </a:solidFill>
                <a:latin typeface="Segoe UI"/>
              </a:rPr>
              <a:t>This one step is what makes the whole thing L3 rather than L4 — the agent drives, a human still owns the decision.</a:t>
            </a:r>
          </a:p>
        </p:txBody>
      </p:sp>
      <p:sp>
        <p:nvSpPr>
          <p:cNvPr id="37" name="TextBox 36"/>
          <p:cNvSpPr txBox="1"/>
          <p:nvPr/>
        </p:nvSpPr>
        <p:spPr>
          <a:xfrm>
            <a:off x="594360" y="5907024"/>
            <a:ext cx="11000232" cy="365760"/>
          </a:xfrm>
          <a:prstGeom prst="rect">
            <a:avLst/>
          </a:prstGeom>
          <a:noFill/>
        </p:spPr>
        <p:txBody>
          <a:bodyPr wrap="square" anchor="t" lIns="0" rIns="0" tIns="0" bIns="0">
            <a:spAutoFit/>
          </a:bodyPr>
          <a:lstStyle/>
          <a:p>
            <a:pPr algn="l"/>
            <a:r>
              <a:rPr sz="1300" b="1">
                <a:solidFill>
                  <a:srgbClr val="1F1F1C"/>
                </a:solidFill>
                <a:latin typeface="Segoe UI"/>
              </a:rPr>
              <a:t>Step 4 carries the same rule: a check you did not run, or one that failed, means the work is not done — say so plainly instead of hedging.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The workflow is itself a thing we iterate on</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Version one shipped in July. These four changes came out of actually living with it.</a:t>
            </a:r>
          </a:p>
        </p:txBody>
      </p:sp>
      <p:sp>
        <p:nvSpPr>
          <p:cNvPr id="4" name="Rectangle 3"/>
          <p:cNvSpPr/>
          <p:nvPr/>
        </p:nvSpPr>
        <p:spPr>
          <a:xfrm>
            <a:off x="594360" y="1920240"/>
            <a:ext cx="731520" cy="310896"/>
          </a:xfrm>
          <a:prstGeom prst="rect">
            <a:avLst/>
          </a:prstGeom>
          <a:solidFill>
            <a:srgbClr val="4F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920240"/>
            <a:ext cx="731520" cy="310896"/>
          </a:xfrm>
          <a:prstGeom prst="rect">
            <a:avLst/>
          </a:prstGeom>
          <a:noFill/>
        </p:spPr>
        <p:txBody>
          <a:bodyPr wrap="square" anchor="ctr" lIns="0" rIns="0" tIns="0" bIns="0">
            <a:spAutoFit/>
          </a:bodyPr>
          <a:lstStyle/>
          <a:p>
            <a:pPr algn="ctr"/>
            <a:r>
              <a:rPr sz="1050" b="1">
                <a:solidFill>
                  <a:srgbClr val="FFFFFF"/>
                </a:solidFill>
                <a:latin typeface="Consolas"/>
              </a:rPr>
              <a:t>ADDED</a:t>
            </a:r>
          </a:p>
        </p:txBody>
      </p:sp>
      <p:sp>
        <p:nvSpPr>
          <p:cNvPr id="6" name="TextBox 5"/>
          <p:cNvSpPr txBox="1"/>
          <p:nvPr/>
        </p:nvSpPr>
        <p:spPr>
          <a:xfrm>
            <a:off x="1508760" y="1883664"/>
            <a:ext cx="5852160" cy="310896"/>
          </a:xfrm>
          <a:prstGeom prst="rect">
            <a:avLst/>
          </a:prstGeom>
          <a:noFill/>
        </p:spPr>
        <p:txBody>
          <a:bodyPr wrap="square" anchor="t" lIns="0" rIns="0" tIns="0" bIns="0">
            <a:spAutoFit/>
          </a:bodyPr>
          <a:lstStyle/>
          <a:p>
            <a:pPr algn="l"/>
            <a:r>
              <a:rPr sz="1500" b="1">
                <a:solidFill>
                  <a:srgbClr val="1F1F1C"/>
                </a:solidFill>
                <a:latin typeface="Segoe UI"/>
              </a:rPr>
              <a:t>Step 0 — the written skill check</a:t>
            </a:r>
          </a:p>
        </p:txBody>
      </p:sp>
      <p:sp>
        <p:nvSpPr>
          <p:cNvPr id="7" name="TextBox 6"/>
          <p:cNvSpPr txBox="1"/>
          <p:nvPr/>
        </p:nvSpPr>
        <p:spPr>
          <a:xfrm>
            <a:off x="1508760" y="2231136"/>
            <a:ext cx="6309360" cy="603504"/>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An unwritten decision is an unmade one. Forcing it into the transcript makes the process auditable after the fact.</a:t>
            </a:r>
          </a:p>
        </p:txBody>
      </p:sp>
      <p:sp>
        <p:nvSpPr>
          <p:cNvPr id="8" name="Rectangle 7"/>
          <p:cNvSpPr/>
          <p:nvPr/>
        </p:nvSpPr>
        <p:spPr>
          <a:xfrm>
            <a:off x="594360" y="2743200"/>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926080"/>
            <a:ext cx="731520" cy="310896"/>
          </a:xfrm>
          <a:prstGeom prst="rect">
            <a:avLst/>
          </a:prstGeom>
          <a:solidFill>
            <a:srgbClr val="4F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926080"/>
            <a:ext cx="731520" cy="310896"/>
          </a:xfrm>
          <a:prstGeom prst="rect">
            <a:avLst/>
          </a:prstGeom>
          <a:noFill/>
        </p:spPr>
        <p:txBody>
          <a:bodyPr wrap="square" anchor="ctr" lIns="0" rIns="0" tIns="0" bIns="0">
            <a:spAutoFit/>
          </a:bodyPr>
          <a:lstStyle/>
          <a:p>
            <a:pPr algn="ctr"/>
            <a:r>
              <a:rPr sz="1050" b="1">
                <a:solidFill>
                  <a:srgbClr val="FFFFFF"/>
                </a:solidFill>
                <a:latin typeface="Consolas"/>
              </a:rPr>
              <a:t>ADDED</a:t>
            </a:r>
          </a:p>
        </p:txBody>
      </p:sp>
      <p:sp>
        <p:nvSpPr>
          <p:cNvPr id="11" name="TextBox 10"/>
          <p:cNvSpPr txBox="1"/>
          <p:nvPr/>
        </p:nvSpPr>
        <p:spPr>
          <a:xfrm>
            <a:off x="1508760" y="2889504"/>
            <a:ext cx="5852160" cy="310896"/>
          </a:xfrm>
          <a:prstGeom prst="rect">
            <a:avLst/>
          </a:prstGeom>
          <a:noFill/>
        </p:spPr>
        <p:txBody>
          <a:bodyPr wrap="square" anchor="t" lIns="0" rIns="0" tIns="0" bIns="0">
            <a:spAutoFit/>
          </a:bodyPr>
          <a:lstStyle/>
          <a:p>
            <a:pPr algn="l"/>
            <a:r>
              <a:rPr sz="1500" b="1">
                <a:solidFill>
                  <a:srgbClr val="1F1F1C"/>
                </a:solidFill>
                <a:latin typeface="Segoe UI"/>
              </a:rPr>
              <a:t>The fast path</a:t>
            </a:r>
          </a:p>
        </p:txBody>
      </p:sp>
      <p:sp>
        <p:nvSpPr>
          <p:cNvPr id="12" name="TextBox 11"/>
          <p:cNvSpPr txBox="1"/>
          <p:nvPr/>
        </p:nvSpPr>
        <p:spPr>
          <a:xfrm>
            <a:off x="1508760" y="3236976"/>
            <a:ext cx="6309360" cy="603504"/>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v1 applied the full ceremony to every task. A typo fix does not need a planner.</a:t>
            </a:r>
          </a:p>
        </p:txBody>
      </p:sp>
      <p:sp>
        <p:nvSpPr>
          <p:cNvPr id="13" name="Rectangle 12"/>
          <p:cNvSpPr/>
          <p:nvPr/>
        </p:nvSpPr>
        <p:spPr>
          <a:xfrm>
            <a:off x="594360" y="3749039"/>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931920"/>
            <a:ext cx="731520" cy="310896"/>
          </a:xfrm>
          <a:prstGeom prst="rect">
            <a:avLst/>
          </a:prstGeom>
          <a:solidFill>
            <a:srgbClr val="4F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931920"/>
            <a:ext cx="731520" cy="310896"/>
          </a:xfrm>
          <a:prstGeom prst="rect">
            <a:avLst/>
          </a:prstGeom>
          <a:noFill/>
        </p:spPr>
        <p:txBody>
          <a:bodyPr wrap="square" anchor="ctr" lIns="0" rIns="0" tIns="0" bIns="0">
            <a:spAutoFit/>
          </a:bodyPr>
          <a:lstStyle/>
          <a:p>
            <a:pPr algn="ctr"/>
            <a:r>
              <a:rPr sz="1050" b="1">
                <a:solidFill>
                  <a:srgbClr val="FFFFFF"/>
                </a:solidFill>
                <a:latin typeface="Consolas"/>
              </a:rPr>
              <a:t>ADDED</a:t>
            </a:r>
          </a:p>
        </p:txBody>
      </p:sp>
      <p:sp>
        <p:nvSpPr>
          <p:cNvPr id="16" name="TextBox 15"/>
          <p:cNvSpPr txBox="1"/>
          <p:nvPr/>
        </p:nvSpPr>
        <p:spPr>
          <a:xfrm>
            <a:off x="1508760" y="3895344"/>
            <a:ext cx="5852160" cy="310896"/>
          </a:xfrm>
          <a:prstGeom prst="rect">
            <a:avLst/>
          </a:prstGeom>
          <a:noFill/>
        </p:spPr>
        <p:txBody>
          <a:bodyPr wrap="square" anchor="t" lIns="0" rIns="0" tIns="0" bIns="0">
            <a:spAutoFit/>
          </a:bodyPr>
          <a:lstStyle/>
          <a:p>
            <a:pPr algn="l"/>
            <a:r>
              <a:rPr sz="1500" b="1">
                <a:solidFill>
                  <a:srgbClr val="1F1F1C"/>
                </a:solidFill>
                <a:latin typeface="Segoe UI"/>
              </a:rPr>
              <a:t>Delegate-wide / inline-narrow</a:t>
            </a:r>
          </a:p>
        </p:txBody>
      </p:sp>
      <p:sp>
        <p:nvSpPr>
          <p:cNvPr id="17" name="TextBox 16"/>
          <p:cNvSpPr txBox="1"/>
          <p:nvPr/>
        </p:nvSpPr>
        <p:spPr>
          <a:xfrm>
            <a:off x="1508760" y="4242816"/>
            <a:ext cx="6309360" cy="603504"/>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v1 gave no guidance on when to open an agent, so it opened too many. v2 puts a number on it.</a:t>
            </a:r>
          </a:p>
        </p:txBody>
      </p:sp>
      <p:sp>
        <p:nvSpPr>
          <p:cNvPr id="18" name="Rectangle 17"/>
          <p:cNvSpPr/>
          <p:nvPr/>
        </p:nvSpPr>
        <p:spPr>
          <a:xfrm>
            <a:off x="594360" y="4754879"/>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4937759"/>
            <a:ext cx="731520" cy="310896"/>
          </a:xfrm>
          <a:prstGeom prst="rect">
            <a:avLst/>
          </a:prstGeom>
          <a:solidFill>
            <a:srgbClr val="C26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937759"/>
            <a:ext cx="731520" cy="310896"/>
          </a:xfrm>
          <a:prstGeom prst="rect">
            <a:avLst/>
          </a:prstGeom>
          <a:noFill/>
        </p:spPr>
        <p:txBody>
          <a:bodyPr wrap="square" anchor="ctr" lIns="0" rIns="0" tIns="0" bIns="0">
            <a:spAutoFit/>
          </a:bodyPr>
          <a:lstStyle/>
          <a:p>
            <a:pPr algn="ctr"/>
            <a:r>
              <a:rPr sz="1050" b="1">
                <a:solidFill>
                  <a:srgbClr val="FFFFFF"/>
                </a:solidFill>
                <a:latin typeface="Consolas"/>
              </a:rPr>
              <a:t>MOVED</a:t>
            </a:r>
          </a:p>
        </p:txBody>
      </p:sp>
      <p:sp>
        <p:nvSpPr>
          <p:cNvPr id="21" name="TextBox 20"/>
          <p:cNvSpPr txBox="1"/>
          <p:nvPr/>
        </p:nvSpPr>
        <p:spPr>
          <a:xfrm>
            <a:off x="1508760" y="4901183"/>
            <a:ext cx="5852160" cy="310896"/>
          </a:xfrm>
          <a:prstGeom prst="rect">
            <a:avLst/>
          </a:prstGeom>
          <a:noFill/>
        </p:spPr>
        <p:txBody>
          <a:bodyPr wrap="square" anchor="t" lIns="0" rIns="0" tIns="0" bIns="0">
            <a:spAutoFit/>
          </a:bodyPr>
          <a:lstStyle/>
          <a:p>
            <a:pPr algn="l"/>
            <a:r>
              <a:rPr sz="1500" b="1">
                <a:solidFill>
                  <a:srgbClr val="1F1F1C"/>
                </a:solidFill>
                <a:latin typeface="Segoe UI"/>
              </a:rPr>
              <a:t>TypeSafe judgments — demoted out of step 0</a:t>
            </a:r>
          </a:p>
        </p:txBody>
      </p:sp>
      <p:sp>
        <p:nvSpPr>
          <p:cNvPr id="22" name="TextBox 21"/>
          <p:cNvSpPr txBox="1"/>
          <p:nvPr/>
        </p:nvSpPr>
        <p:spPr>
          <a:xfrm>
            <a:off x="1508760" y="5248655"/>
            <a:ext cx="6309360" cy="603504"/>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It held a slot in the opening block and never once fired across ten-plus tasks. So it was demoted, with a note not to restore it without evidence.</a:t>
            </a:r>
          </a:p>
        </p:txBody>
      </p:sp>
      <p:sp>
        <p:nvSpPr>
          <p:cNvPr id="23" name="Rectangle 22"/>
          <p:cNvSpPr/>
          <p:nvPr/>
        </p:nvSpPr>
        <p:spPr>
          <a:xfrm>
            <a:off x="8229600" y="1847088"/>
            <a:ext cx="3364992" cy="3749039"/>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0" y="2139696"/>
            <a:ext cx="2834640" cy="274320"/>
          </a:xfrm>
          <a:prstGeom prst="rect">
            <a:avLst/>
          </a:prstGeom>
          <a:noFill/>
        </p:spPr>
        <p:txBody>
          <a:bodyPr wrap="square" anchor="t" lIns="0" rIns="0" tIns="0" bIns="0">
            <a:spAutoFit/>
          </a:bodyPr>
          <a:lstStyle/>
          <a:p>
            <a:pPr algn="l"/>
            <a:r>
              <a:rPr sz="1050" b="1">
                <a:solidFill>
                  <a:srgbClr val="CADCFC"/>
                </a:solidFill>
                <a:latin typeface="Consolas"/>
              </a:rPr>
              <a:t>WHY SHOW THIS</a:t>
            </a:r>
          </a:p>
        </p:txBody>
      </p:sp>
      <p:sp>
        <p:nvSpPr>
          <p:cNvPr id="25" name="TextBox 24"/>
          <p:cNvSpPr txBox="1"/>
          <p:nvPr/>
        </p:nvSpPr>
        <p:spPr>
          <a:xfrm>
            <a:off x="8503920" y="2505456"/>
            <a:ext cx="2852928" cy="1097280"/>
          </a:xfrm>
          <a:prstGeom prst="rect">
            <a:avLst/>
          </a:prstGeom>
          <a:noFill/>
        </p:spPr>
        <p:txBody>
          <a:bodyPr wrap="square" anchor="t" lIns="0" rIns="0" tIns="0" bIns="0">
            <a:spAutoFit/>
          </a:bodyPr>
          <a:lstStyle/>
          <a:p>
            <a:pPr algn="l">
              <a:lnSpc>
                <a:spcPct val="115000"/>
              </a:lnSpc>
            </a:pPr>
            <a:r>
              <a:rPr sz="1800" b="1">
                <a:solidFill>
                  <a:srgbClr val="FFFFFF"/>
                </a:solidFill>
                <a:latin typeface="Segoe UI"/>
              </a:rPr>
              <a:t>A process nobody edits is a process nobody follows</a:t>
            </a:r>
          </a:p>
        </p:txBody>
      </p:sp>
      <p:sp>
        <p:nvSpPr>
          <p:cNvPr id="26" name="TextBox 25"/>
          <p:cNvSpPr txBox="1"/>
          <p:nvPr/>
        </p:nvSpPr>
        <p:spPr>
          <a:xfrm>
            <a:off x="8503920" y="3858768"/>
            <a:ext cx="2852928" cy="1645920"/>
          </a:xfrm>
          <a:prstGeom prst="rect">
            <a:avLst/>
          </a:prstGeom>
          <a:noFill/>
        </p:spPr>
        <p:txBody>
          <a:bodyPr wrap="square" anchor="t" lIns="0" rIns="0" tIns="0" bIns="0">
            <a:spAutoFit/>
          </a:bodyPr>
          <a:lstStyle/>
          <a:p>
            <a:pPr algn="l">
              <a:lnSpc>
                <a:spcPct val="128000"/>
              </a:lnSpc>
            </a:pPr>
            <a:r>
              <a:rPr sz="1200" b="0">
                <a:solidFill>
                  <a:srgbClr val="CADCFC"/>
                </a:solidFill>
                <a:latin typeface="Segoe UI"/>
              </a:rPr>
              <a:t>Every one of these came from noticing a cost we were actually paying.</a:t>
            </a:r>
          </a:p>
          <a:p>
            <a:pPr algn="l">
              <a:lnSpc>
                <a:spcPct val="128000"/>
              </a:lnSpc>
            </a:pPr>
            <a:r>
              <a:rPr sz="1200" b="0">
                <a:solidFill>
                  <a:srgbClr val="CADCFC"/>
                </a:solidFill>
                <a:latin typeface="Segoe UI"/>
              </a:rPr>
              <a:t/>
            </a:r>
          </a:p>
          <a:p>
            <a:pPr algn="l">
              <a:lnSpc>
                <a:spcPct val="128000"/>
              </a:lnSpc>
            </a:pPr>
            <a:r>
              <a:rPr sz="1200" b="0">
                <a:solidFill>
                  <a:srgbClr val="CADCFC"/>
                </a:solidFill>
                <a:latin typeface="Segoe UI"/>
              </a:rPr>
              <a:t>The last one is a deletion — which matters more than the additions.</a:t>
            </a:r>
          </a:p>
        </p:txBody>
      </p:sp>
      <p:sp>
        <p:nvSpPr>
          <p:cNvPr id="27" name="TextBox 26"/>
          <p:cNvSpPr txBox="1"/>
          <p:nvPr/>
        </p:nvSpPr>
        <p:spPr>
          <a:xfrm>
            <a:off x="594360" y="5907024"/>
            <a:ext cx="11000232" cy="365760"/>
          </a:xfrm>
          <a:prstGeom prst="rect">
            <a:avLst/>
          </a:prstGeom>
          <a:noFill/>
        </p:spPr>
        <p:txBody>
          <a:bodyPr wrap="square" anchor="t" lIns="0" rIns="0" tIns="0" bIns="0">
            <a:spAutoFit/>
          </a:bodyPr>
          <a:lstStyle/>
          <a:p>
            <a:pPr algn="l"/>
            <a:r>
              <a:rPr sz="1300" b="1">
                <a:solidFill>
                  <a:srgbClr val="1F1F1C"/>
                </a:solidFill>
                <a:latin typeface="Segoe UI"/>
              </a:rPr>
              <a:t>The rule we wrote for ourselves: do not restore a removed step without evidence it would have fired.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When dispatching an agent actually pays</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Context is re-sent on every turn — so anything read inline is charged again, every turn after</a:t>
            </a:r>
          </a:p>
        </p:txBody>
      </p:sp>
      <p:sp>
        <p:nvSpPr>
          <p:cNvPr id="4" name="Rectangle 3"/>
          <p:cNvSpPr/>
          <p:nvPr/>
        </p:nvSpPr>
        <p:spPr>
          <a:xfrm>
            <a:off x="594360" y="1883664"/>
            <a:ext cx="5394960" cy="2148840"/>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2121408"/>
            <a:ext cx="4754880" cy="274320"/>
          </a:xfrm>
          <a:prstGeom prst="rect">
            <a:avLst/>
          </a:prstGeom>
          <a:noFill/>
        </p:spPr>
        <p:txBody>
          <a:bodyPr wrap="square" anchor="t" lIns="0" rIns="0" tIns="0" bIns="0">
            <a:spAutoFit/>
          </a:bodyPr>
          <a:lstStyle/>
          <a:p>
            <a:pPr algn="l"/>
            <a:r>
              <a:rPr sz="1100" b="1">
                <a:solidFill>
                  <a:srgbClr val="CADCFC"/>
                </a:solidFill>
                <a:latin typeface="Consolas"/>
              </a:rPr>
              <a:t>DELEGATE</a:t>
            </a:r>
          </a:p>
        </p:txBody>
      </p:sp>
      <p:sp>
        <p:nvSpPr>
          <p:cNvPr id="6" name="TextBox 5"/>
          <p:cNvSpPr txBox="1"/>
          <p:nvPr/>
        </p:nvSpPr>
        <p:spPr>
          <a:xfrm>
            <a:off x="886968" y="2395728"/>
            <a:ext cx="4846320" cy="365760"/>
          </a:xfrm>
          <a:prstGeom prst="rect">
            <a:avLst/>
          </a:prstGeom>
          <a:noFill/>
        </p:spPr>
        <p:txBody>
          <a:bodyPr wrap="square" anchor="t" lIns="0" rIns="0" tIns="0" bIns="0">
            <a:spAutoFit/>
          </a:bodyPr>
          <a:lstStyle/>
          <a:p>
            <a:pPr algn="l"/>
            <a:r>
              <a:rPr sz="1600" b="1">
                <a:solidFill>
                  <a:srgbClr val="FFFFFF"/>
                </a:solidFill>
                <a:latin typeface="Segoe UI"/>
              </a:rPr>
              <a:t>when the search is open-ended</a:t>
            </a:r>
          </a:p>
        </p:txBody>
      </p:sp>
      <p:sp>
        <p:nvSpPr>
          <p:cNvPr id="7" name="TextBox 6"/>
          <p:cNvSpPr txBox="1"/>
          <p:nvPr/>
        </p:nvSpPr>
        <p:spPr>
          <a:xfrm>
            <a:off x="886968" y="2834640"/>
            <a:ext cx="4828032" cy="1005840"/>
          </a:xfrm>
          <a:prstGeom prst="rect">
            <a:avLst/>
          </a:prstGeom>
          <a:noFill/>
        </p:spPr>
        <p:txBody>
          <a:bodyPr wrap="square" anchor="t" lIns="0" rIns="0" tIns="0" bIns="0">
            <a:spAutoFit/>
          </a:bodyPr>
          <a:lstStyle/>
          <a:p>
            <a:pPr algn="l">
              <a:lnSpc>
                <a:spcPct val="125000"/>
              </a:lnSpc>
            </a:pPr>
            <a:r>
              <a:rPr sz="1250" b="0">
                <a:solidFill>
                  <a:srgbClr val="CADCFC"/>
                </a:solidFill>
                <a:latin typeface="Segoe UI"/>
              </a:rPr>
              <a:t>Location unknown, several candidate files, or a sweep across naming conventions. Charged once — you keep the summary, not the file dumps.</a:t>
            </a:r>
          </a:p>
        </p:txBody>
      </p:sp>
      <p:sp>
        <p:nvSpPr>
          <p:cNvPr id="8" name="Rectangle 7"/>
          <p:cNvSpPr/>
          <p:nvPr/>
        </p:nvSpPr>
        <p:spPr>
          <a:xfrm>
            <a:off x="6199632" y="1883664"/>
            <a:ext cx="5394960" cy="21488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21408"/>
            <a:ext cx="4754880" cy="274320"/>
          </a:xfrm>
          <a:prstGeom prst="rect">
            <a:avLst/>
          </a:prstGeom>
          <a:noFill/>
        </p:spPr>
        <p:txBody>
          <a:bodyPr wrap="square" anchor="t" lIns="0" rIns="0" tIns="0" bIns="0">
            <a:spAutoFit/>
          </a:bodyPr>
          <a:lstStyle/>
          <a:p>
            <a:pPr algn="l"/>
            <a:r>
              <a:rPr sz="1100" b="1">
                <a:solidFill>
                  <a:srgbClr val="24407E"/>
                </a:solidFill>
                <a:latin typeface="Consolas"/>
              </a:rPr>
              <a:t>DO IT INLINE</a:t>
            </a:r>
          </a:p>
        </p:txBody>
      </p:sp>
      <p:sp>
        <p:nvSpPr>
          <p:cNvPr id="10" name="TextBox 9"/>
          <p:cNvSpPr txBox="1"/>
          <p:nvPr/>
        </p:nvSpPr>
        <p:spPr>
          <a:xfrm>
            <a:off x="6492240" y="2395728"/>
            <a:ext cx="4846320" cy="365760"/>
          </a:xfrm>
          <a:prstGeom prst="rect">
            <a:avLst/>
          </a:prstGeom>
          <a:noFill/>
        </p:spPr>
        <p:txBody>
          <a:bodyPr wrap="square" anchor="t" lIns="0" rIns="0" tIns="0" bIns="0">
            <a:spAutoFit/>
          </a:bodyPr>
          <a:lstStyle/>
          <a:p>
            <a:pPr algn="l"/>
            <a:r>
              <a:rPr sz="1600" b="1">
                <a:solidFill>
                  <a:srgbClr val="1F1F1C"/>
                </a:solidFill>
                <a:latin typeface="Segoe UI"/>
              </a:rPr>
              <a:t>when the target is known</a:t>
            </a:r>
          </a:p>
        </p:txBody>
      </p:sp>
      <p:sp>
        <p:nvSpPr>
          <p:cNvPr id="11" name="TextBox 10"/>
          <p:cNvSpPr txBox="1"/>
          <p:nvPr/>
        </p:nvSpPr>
        <p:spPr>
          <a:xfrm>
            <a:off x="6492240" y="2834640"/>
            <a:ext cx="4828032" cy="1005840"/>
          </a:xfrm>
          <a:prstGeom prst="rect">
            <a:avLst/>
          </a:prstGeom>
          <a:noFill/>
        </p:spPr>
        <p:txBody>
          <a:bodyPr wrap="square" anchor="t" lIns="0" rIns="0" tIns="0" bIns="0">
            <a:spAutoFit/>
          </a:bodyPr>
          <a:lstStyle/>
          <a:p>
            <a:pPr algn="l">
              <a:lnSpc>
                <a:spcPct val="125000"/>
              </a:lnSpc>
            </a:pPr>
            <a:r>
              <a:rPr sz="1250" b="0">
                <a:solidFill>
                  <a:srgbClr val="66665F"/>
                </a:solidFill>
                <a:latin typeface="Segoe UI"/>
              </a:rPr>
              <a:t>One file, one symbol, one grep with an expected answer. Opening an agent costs roughly 48k tokens before it does anything — measured, not estimated.</a:t>
            </a:r>
          </a:p>
        </p:txBody>
      </p:sp>
      <p:sp>
        <p:nvSpPr>
          <p:cNvPr id="12" name="Rectangle 11"/>
          <p:cNvSpPr/>
          <p:nvPr/>
        </p:nvSpPr>
        <p:spPr>
          <a:xfrm>
            <a:off x="594360" y="4315968"/>
            <a:ext cx="11000232"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535424"/>
            <a:ext cx="5394960" cy="310896"/>
          </a:xfrm>
          <a:prstGeom prst="rect">
            <a:avLst/>
          </a:prstGeom>
          <a:noFill/>
        </p:spPr>
        <p:txBody>
          <a:bodyPr wrap="square" anchor="t" lIns="0" rIns="0" tIns="0" bIns="0">
            <a:spAutoFit/>
          </a:bodyPr>
          <a:lstStyle/>
          <a:p>
            <a:pPr algn="l"/>
            <a:r>
              <a:rPr sz="1600" b="1">
                <a:solidFill>
                  <a:srgbClr val="1F1F1C"/>
                </a:solidFill>
                <a:latin typeface="Segoe UI"/>
              </a:rPr>
              <a:t>Independent agents go out together</a:t>
            </a:r>
          </a:p>
        </p:txBody>
      </p:sp>
      <p:sp>
        <p:nvSpPr>
          <p:cNvPr id="14" name="TextBox 13"/>
          <p:cNvSpPr txBox="1"/>
          <p:nvPr/>
        </p:nvSpPr>
        <p:spPr>
          <a:xfrm>
            <a:off x="594360" y="4882896"/>
            <a:ext cx="5394960" cy="822960"/>
          </a:xfrm>
          <a:prstGeom prst="rect">
            <a:avLst/>
          </a:prstGeom>
          <a:noFill/>
        </p:spPr>
        <p:txBody>
          <a:bodyPr wrap="square" anchor="t" lIns="0" rIns="0" tIns="0" bIns="0">
            <a:spAutoFit/>
          </a:bodyPr>
          <a:lstStyle/>
          <a:p>
            <a:pPr algn="l">
              <a:lnSpc>
                <a:spcPct val="125000"/>
              </a:lnSpc>
            </a:pPr>
            <a:r>
              <a:rPr sz="1250" b="0">
                <a:solidFill>
                  <a:srgbClr val="66665F"/>
                </a:solidFill>
                <a:latin typeface="Segoe UI"/>
              </a:rPr>
              <a:t>Agents that do not depend on each other are dispatched in one message, never one after another. Code review and security review are the standing case.</a:t>
            </a:r>
          </a:p>
        </p:txBody>
      </p:sp>
      <p:sp>
        <p:nvSpPr>
          <p:cNvPr id="15" name="TextBox 14"/>
          <p:cNvSpPr txBox="1"/>
          <p:nvPr/>
        </p:nvSpPr>
        <p:spPr>
          <a:xfrm>
            <a:off x="6199632" y="4535424"/>
            <a:ext cx="5394960" cy="310896"/>
          </a:xfrm>
          <a:prstGeom prst="rect">
            <a:avLst/>
          </a:prstGeom>
          <a:noFill/>
        </p:spPr>
        <p:txBody>
          <a:bodyPr wrap="square" anchor="t" lIns="0" rIns="0" tIns="0" bIns="0">
            <a:spAutoFit/>
          </a:bodyPr>
          <a:lstStyle/>
          <a:p>
            <a:pPr algn="l"/>
            <a:r>
              <a:rPr sz="1600" b="1">
                <a:solidFill>
                  <a:srgbClr val="1F1F1C"/>
                </a:solidFill>
                <a:latin typeface="Segoe UI"/>
              </a:rPr>
              <a:t>It buys wall-clock, not budget</a:t>
            </a:r>
          </a:p>
        </p:txBody>
      </p:sp>
      <p:sp>
        <p:nvSpPr>
          <p:cNvPr id="16" name="TextBox 15"/>
          <p:cNvSpPr txBox="1"/>
          <p:nvPr/>
        </p:nvSpPr>
        <p:spPr>
          <a:xfrm>
            <a:off x="6199632" y="4882896"/>
            <a:ext cx="5394960" cy="822960"/>
          </a:xfrm>
          <a:prstGeom prst="rect">
            <a:avLst/>
          </a:prstGeom>
          <a:noFill/>
        </p:spPr>
        <p:txBody>
          <a:bodyPr wrap="square" anchor="t" lIns="0" rIns="0" tIns="0" bIns="0">
            <a:spAutoFit/>
          </a:bodyPr>
          <a:lstStyle/>
          <a:p>
            <a:pPr algn="l">
              <a:lnSpc>
                <a:spcPct val="125000"/>
              </a:lnSpc>
            </a:pPr>
            <a:r>
              <a:rPr sz="1250" b="0">
                <a:solidFill>
                  <a:srgbClr val="66665F"/>
                </a:solidFill>
                <a:latin typeface="Segoe UI"/>
              </a:rPr>
              <a:t>The token cost is identical either way — so there is never a reason to serialise two agents merely because one is listed first.</a:t>
            </a:r>
          </a:p>
        </p:txBody>
      </p:sp>
      <p:sp>
        <p:nvSpPr>
          <p:cNvPr id="17" name="Rectangle 16"/>
          <p:cNvSpPr/>
          <p:nvPr/>
        </p:nvSpPr>
        <p:spPr>
          <a:xfrm>
            <a:off x="594360" y="5815584"/>
            <a:ext cx="11000232" cy="56692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5943600"/>
            <a:ext cx="10424160" cy="365760"/>
          </a:xfrm>
          <a:prstGeom prst="rect">
            <a:avLst/>
          </a:prstGeom>
          <a:noFill/>
        </p:spPr>
        <p:txBody>
          <a:bodyPr wrap="square" anchor="t" lIns="0" rIns="0" tIns="0" bIns="0">
            <a:spAutoFit/>
          </a:bodyPr>
          <a:lstStyle/>
          <a:p>
            <a:pPr algn="l"/>
            <a:r>
              <a:rPr sz="1300" b="1">
                <a:solidFill>
                  <a:srgbClr val="1F1F1C"/>
                </a:solidFill>
                <a:latin typeface="Segoe UI"/>
              </a:rPr>
              <a:t>The test: would the reading outweigh the dispatch? Early in a long session, delegate more. On a last small task, inline.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Layer 2 — Rules the agent reads before it touches anything</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AIFlowTesting / CLAUDE.md — the repo's own hard rules, loaded on top of the global ones</a:t>
            </a:r>
          </a:p>
        </p:txBody>
      </p:sp>
      <p:sp>
        <p:nvSpPr>
          <p:cNvPr id="4" name="Rectangle 3"/>
          <p:cNvSpPr/>
          <p:nvPr/>
        </p:nvSpPr>
        <p:spPr>
          <a:xfrm>
            <a:off x="594360" y="1920240"/>
            <a:ext cx="1170432" cy="292608"/>
          </a:xfrm>
          <a:prstGeom prst="rect">
            <a:avLst/>
          </a:prstGeom>
          <a:solidFill>
            <a:srgbClr val="8FA8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920240"/>
            <a:ext cx="1170432" cy="292608"/>
          </a:xfrm>
          <a:prstGeom prst="rect">
            <a:avLst/>
          </a:prstGeom>
          <a:noFill/>
        </p:spPr>
        <p:txBody>
          <a:bodyPr wrap="square" anchor="ctr" lIns="0" rIns="0" tIns="0" bIns="0">
            <a:spAutoFit/>
          </a:bodyPr>
          <a:lstStyle/>
          <a:p>
            <a:pPr algn="ctr"/>
            <a:r>
              <a:rPr sz="1000" b="1">
                <a:solidFill>
                  <a:srgbClr val="FFFFFF"/>
                </a:solidFill>
                <a:latin typeface="Consolas"/>
              </a:rPr>
              <a:t>BRANCHING</a:t>
            </a:r>
          </a:p>
        </p:txBody>
      </p:sp>
      <p:sp>
        <p:nvSpPr>
          <p:cNvPr id="6" name="TextBox 5"/>
          <p:cNvSpPr txBox="1"/>
          <p:nvPr/>
        </p:nvSpPr>
        <p:spPr>
          <a:xfrm>
            <a:off x="1965960" y="1865376"/>
            <a:ext cx="5852160" cy="310896"/>
          </a:xfrm>
          <a:prstGeom prst="rect">
            <a:avLst/>
          </a:prstGeom>
          <a:noFill/>
        </p:spPr>
        <p:txBody>
          <a:bodyPr wrap="square" anchor="t" lIns="0" rIns="0" tIns="0" bIns="0">
            <a:spAutoFit/>
          </a:bodyPr>
          <a:lstStyle/>
          <a:p>
            <a:pPr algn="l"/>
            <a:r>
              <a:rPr sz="1550" b="1">
                <a:solidFill>
                  <a:srgbClr val="1F1F1C"/>
                </a:solidFill>
                <a:latin typeface="Segoe UI"/>
              </a:rPr>
              <a:t>Never commit directly to main</a:t>
            </a:r>
          </a:p>
        </p:txBody>
      </p:sp>
      <p:sp>
        <p:nvSpPr>
          <p:cNvPr id="7" name="TextBox 6"/>
          <p:cNvSpPr txBox="1"/>
          <p:nvPr/>
        </p:nvSpPr>
        <p:spPr>
          <a:xfrm>
            <a:off x="1965960" y="2212848"/>
            <a:ext cx="5852160" cy="640080"/>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Every change starts on feature/&lt;name&gt; or fix/&lt;name&gt;. main is protected on GitHub — changes land only through a pull request. Push and PR are explicitly manual.</a:t>
            </a:r>
          </a:p>
        </p:txBody>
      </p:sp>
      <p:sp>
        <p:nvSpPr>
          <p:cNvPr id="8" name="Rectangle 7"/>
          <p:cNvSpPr/>
          <p:nvPr/>
        </p:nvSpPr>
        <p:spPr>
          <a:xfrm>
            <a:off x="594360" y="2743200"/>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926080"/>
            <a:ext cx="1170432" cy="292608"/>
          </a:xfrm>
          <a:prstGeom prst="rect">
            <a:avLst/>
          </a:prstGeom>
          <a:solidFill>
            <a:srgbClr val="5F8C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926080"/>
            <a:ext cx="1170432" cy="292608"/>
          </a:xfrm>
          <a:prstGeom prst="rect">
            <a:avLst/>
          </a:prstGeom>
          <a:noFill/>
        </p:spPr>
        <p:txBody>
          <a:bodyPr wrap="square" anchor="ctr" lIns="0" rIns="0" tIns="0" bIns="0">
            <a:spAutoFit/>
          </a:bodyPr>
          <a:lstStyle/>
          <a:p>
            <a:pPr algn="ctr"/>
            <a:r>
              <a:rPr sz="1000" b="1">
                <a:solidFill>
                  <a:srgbClr val="FFFFFF"/>
                </a:solidFill>
                <a:latin typeface="Consolas"/>
              </a:rPr>
              <a:t>PROCESS</a:t>
            </a:r>
          </a:p>
        </p:txBody>
      </p:sp>
      <p:sp>
        <p:nvSpPr>
          <p:cNvPr id="11" name="TextBox 10"/>
          <p:cNvSpPr txBox="1"/>
          <p:nvPr/>
        </p:nvSpPr>
        <p:spPr>
          <a:xfrm>
            <a:off x="1965960" y="2871216"/>
            <a:ext cx="5852160" cy="310896"/>
          </a:xfrm>
          <a:prstGeom prst="rect">
            <a:avLst/>
          </a:prstGeom>
          <a:noFill/>
        </p:spPr>
        <p:txBody>
          <a:bodyPr wrap="square" anchor="t" lIns="0" rIns="0" tIns="0" bIns="0">
            <a:spAutoFit/>
          </a:bodyPr>
          <a:lstStyle/>
          <a:p>
            <a:pPr algn="l"/>
            <a:r>
              <a:rPr sz="1550" b="1">
                <a:solidFill>
                  <a:srgbClr val="1F1F1C"/>
                </a:solidFill>
                <a:latin typeface="Segoe UI"/>
              </a:rPr>
              <a:t>The agent-team workflow, restated in the repo</a:t>
            </a:r>
          </a:p>
        </p:txBody>
      </p:sp>
      <p:sp>
        <p:nvSpPr>
          <p:cNvPr id="12" name="TextBox 11"/>
          <p:cNvSpPr txBox="1"/>
          <p:nvPr/>
        </p:nvSpPr>
        <p:spPr>
          <a:xfrm>
            <a:off x="1965960" y="3218688"/>
            <a:ext cx="5852160" cy="640080"/>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Plan → checkpoint → tests first → code review → security review → local commit. Restated here so it binds anyone who cloned the repo on their own.</a:t>
            </a:r>
          </a:p>
        </p:txBody>
      </p:sp>
      <p:sp>
        <p:nvSpPr>
          <p:cNvPr id="13" name="Rectangle 12"/>
          <p:cNvSpPr/>
          <p:nvPr/>
        </p:nvSpPr>
        <p:spPr>
          <a:xfrm>
            <a:off x="594360" y="3749039"/>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931920"/>
            <a:ext cx="1170432" cy="292608"/>
          </a:xfrm>
          <a:prstGeom prst="rect">
            <a:avLst/>
          </a:prstGeom>
          <a:solidFill>
            <a:srgbClr val="3D67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931920"/>
            <a:ext cx="1170432" cy="292608"/>
          </a:xfrm>
          <a:prstGeom prst="rect">
            <a:avLst/>
          </a:prstGeom>
          <a:noFill/>
        </p:spPr>
        <p:txBody>
          <a:bodyPr wrap="square" anchor="ctr" lIns="0" rIns="0" tIns="0" bIns="0">
            <a:spAutoFit/>
          </a:bodyPr>
          <a:lstStyle/>
          <a:p>
            <a:pPr algn="ctr"/>
            <a:r>
              <a:rPr sz="1000" b="1">
                <a:solidFill>
                  <a:srgbClr val="FFFFFF"/>
                </a:solidFill>
                <a:latin typeface="Consolas"/>
              </a:rPr>
              <a:t>EVIDENCE</a:t>
            </a:r>
          </a:p>
        </p:txBody>
      </p:sp>
      <p:sp>
        <p:nvSpPr>
          <p:cNvPr id="16" name="TextBox 15"/>
          <p:cNvSpPr txBox="1"/>
          <p:nvPr/>
        </p:nvSpPr>
        <p:spPr>
          <a:xfrm>
            <a:off x="1965960" y="3877056"/>
            <a:ext cx="5852160" cy="310896"/>
          </a:xfrm>
          <a:prstGeom prst="rect">
            <a:avLst/>
          </a:prstGeom>
          <a:noFill/>
        </p:spPr>
        <p:txBody>
          <a:bodyPr wrap="square" anchor="t" lIns="0" rIns="0" tIns="0" bIns="0">
            <a:spAutoFit/>
          </a:bodyPr>
          <a:lstStyle/>
          <a:p>
            <a:pPr algn="l"/>
            <a:r>
              <a:rPr sz="1550" b="1">
                <a:solidFill>
                  <a:srgbClr val="1F1F1C"/>
                </a:solidFill>
                <a:latin typeface="Segoe UI"/>
              </a:rPr>
              <a:t>Every test case gets written down</a:t>
            </a:r>
          </a:p>
        </p:txBody>
      </p:sp>
      <p:sp>
        <p:nvSpPr>
          <p:cNvPr id="17" name="TextBox 16"/>
          <p:cNvSpPr txBox="1"/>
          <p:nvPr/>
        </p:nvSpPr>
        <p:spPr>
          <a:xfrm>
            <a:off x="1965960" y="4224528"/>
            <a:ext cx="5852160" cy="640080"/>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Not optional and not summarised — a structured log, one folder per branch, appended to as the branch grows.</a:t>
            </a:r>
          </a:p>
        </p:txBody>
      </p:sp>
      <p:sp>
        <p:nvSpPr>
          <p:cNvPr id="18" name="Rectangle 17"/>
          <p:cNvSpPr/>
          <p:nvPr/>
        </p:nvSpPr>
        <p:spPr>
          <a:xfrm>
            <a:off x="594360" y="4754879"/>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4937759"/>
            <a:ext cx="1170432" cy="292608"/>
          </a:xfrm>
          <a:prstGeom prst="rect">
            <a:avLst/>
          </a:prstGeom>
          <a:solidFill>
            <a:srgbClr val="244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937759"/>
            <a:ext cx="1170432" cy="292608"/>
          </a:xfrm>
          <a:prstGeom prst="rect">
            <a:avLst/>
          </a:prstGeom>
          <a:noFill/>
        </p:spPr>
        <p:txBody>
          <a:bodyPr wrap="square" anchor="ctr" lIns="0" rIns="0" tIns="0" bIns="0">
            <a:spAutoFit/>
          </a:bodyPr>
          <a:lstStyle/>
          <a:p>
            <a:pPr algn="ctr"/>
            <a:r>
              <a:rPr sz="1000" b="1">
                <a:solidFill>
                  <a:srgbClr val="FFFFFF"/>
                </a:solidFill>
                <a:latin typeface="Consolas"/>
              </a:rPr>
              <a:t>STYLE</a:t>
            </a:r>
          </a:p>
        </p:txBody>
      </p:sp>
      <p:sp>
        <p:nvSpPr>
          <p:cNvPr id="21" name="TextBox 20"/>
          <p:cNvSpPr txBox="1"/>
          <p:nvPr/>
        </p:nvSpPr>
        <p:spPr>
          <a:xfrm>
            <a:off x="1965960" y="4882896"/>
            <a:ext cx="5852160" cy="310896"/>
          </a:xfrm>
          <a:prstGeom prst="rect">
            <a:avLst/>
          </a:prstGeom>
          <a:noFill/>
        </p:spPr>
        <p:txBody>
          <a:bodyPr wrap="square" anchor="t" lIns="0" rIns="0" tIns="0" bIns="0">
            <a:spAutoFit/>
          </a:bodyPr>
          <a:lstStyle/>
          <a:p>
            <a:pPr algn="l"/>
            <a:r>
              <a:rPr sz="1550" b="1">
                <a:solidFill>
                  <a:srgbClr val="1F1F1C"/>
                </a:solidFill>
                <a:latin typeface="Segoe UI"/>
              </a:rPr>
              <a:t>Immutable by construction</a:t>
            </a:r>
          </a:p>
        </p:txBody>
      </p:sp>
      <p:sp>
        <p:nvSpPr>
          <p:cNvPr id="22" name="TextBox 21"/>
          <p:cNvSpPr txBox="1"/>
          <p:nvPr/>
        </p:nvSpPr>
        <p:spPr>
          <a:xfrm>
            <a:off x="1965960" y="5230368"/>
            <a:ext cx="5852160" cy="640080"/>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Frozen dataclasses; methods return new objects and never mutate. Coverage stays at 80%+.</a:t>
            </a:r>
          </a:p>
        </p:txBody>
      </p:sp>
      <p:sp>
        <p:nvSpPr>
          <p:cNvPr id="23" name="Rectangle 22"/>
          <p:cNvSpPr/>
          <p:nvPr/>
        </p:nvSpPr>
        <p:spPr>
          <a:xfrm>
            <a:off x="8229600" y="1847088"/>
            <a:ext cx="3364992" cy="3749039"/>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0" y="2139696"/>
            <a:ext cx="2834640" cy="274320"/>
          </a:xfrm>
          <a:prstGeom prst="rect">
            <a:avLst/>
          </a:prstGeom>
          <a:noFill/>
        </p:spPr>
        <p:txBody>
          <a:bodyPr wrap="square" anchor="t" lIns="0" rIns="0" tIns="0" bIns="0">
            <a:spAutoFit/>
          </a:bodyPr>
          <a:lstStyle/>
          <a:p>
            <a:pPr algn="l"/>
            <a:r>
              <a:rPr sz="1050" b="1">
                <a:solidFill>
                  <a:srgbClr val="CADCFC"/>
                </a:solidFill>
                <a:latin typeface="Consolas"/>
              </a:rPr>
              <a:t>THE SHIFT</a:t>
            </a:r>
          </a:p>
        </p:txBody>
      </p:sp>
      <p:sp>
        <p:nvSpPr>
          <p:cNvPr id="25" name="TextBox 24"/>
          <p:cNvSpPr txBox="1"/>
          <p:nvPr/>
        </p:nvSpPr>
        <p:spPr>
          <a:xfrm>
            <a:off x="8503920" y="2505456"/>
            <a:ext cx="2852928" cy="1097280"/>
          </a:xfrm>
          <a:prstGeom prst="rect">
            <a:avLst/>
          </a:prstGeom>
          <a:noFill/>
        </p:spPr>
        <p:txBody>
          <a:bodyPr wrap="square" anchor="t" lIns="0" rIns="0" tIns="0" bIns="0">
            <a:spAutoFit/>
          </a:bodyPr>
          <a:lstStyle/>
          <a:p>
            <a:pPr algn="l">
              <a:lnSpc>
                <a:spcPct val="115000"/>
              </a:lnSpc>
            </a:pPr>
            <a:r>
              <a:rPr sz="1800" b="1">
                <a:solidFill>
                  <a:srgbClr val="FFFFFF"/>
                </a:solidFill>
                <a:latin typeface="Segoe UI"/>
              </a:rPr>
              <a:t>From asking nicely to not being able to skip it</a:t>
            </a:r>
          </a:p>
        </p:txBody>
      </p:sp>
      <p:sp>
        <p:nvSpPr>
          <p:cNvPr id="26" name="TextBox 25"/>
          <p:cNvSpPr txBox="1"/>
          <p:nvPr/>
        </p:nvSpPr>
        <p:spPr>
          <a:xfrm>
            <a:off x="8503920" y="3858768"/>
            <a:ext cx="2852928" cy="1645920"/>
          </a:xfrm>
          <a:prstGeom prst="rect">
            <a:avLst/>
          </a:prstGeom>
          <a:noFill/>
        </p:spPr>
        <p:txBody>
          <a:bodyPr wrap="square" anchor="t" lIns="0" rIns="0" tIns="0" bIns="0">
            <a:spAutoFit/>
          </a:bodyPr>
          <a:lstStyle/>
          <a:p>
            <a:pPr algn="l">
              <a:lnSpc>
                <a:spcPct val="128000"/>
              </a:lnSpc>
            </a:pPr>
            <a:r>
              <a:rPr sz="1200" b="0">
                <a:solidFill>
                  <a:srgbClr val="CADCFC"/>
                </a:solidFill>
                <a:latin typeface="Segoe UI"/>
              </a:rPr>
              <a:t>A prompt is advice — it competes with whatever else is in context.</a:t>
            </a:r>
          </a:p>
          <a:p>
            <a:pPr algn="l">
              <a:lnSpc>
                <a:spcPct val="128000"/>
              </a:lnSpc>
            </a:pPr>
            <a:r>
              <a:rPr sz="1200" b="0">
                <a:solidFill>
                  <a:srgbClr val="CADCFC"/>
                </a:solidFill>
                <a:latin typeface="Segoe UI"/>
              </a:rPr>
              <a:t/>
            </a:r>
          </a:p>
          <a:p>
            <a:pPr algn="l">
              <a:lnSpc>
                <a:spcPct val="128000"/>
              </a:lnSpc>
            </a:pPr>
            <a:r>
              <a:rPr sz="1200" b="0">
                <a:solidFill>
                  <a:srgbClr val="CADCFC"/>
                </a:solidFill>
                <a:latin typeface="Segoe UI"/>
              </a:rPr>
              <a:t>A rule in CLAUDE.md is read before the first action, every session, by every agent, for everybody on the repo.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Evidence is produced, not reported</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testcases/&lt;branch&gt;/testcases_&lt;yyyyMMdd_HHmmss&gt;.md — written while the work happens, committed alongside the code it describes</a:t>
            </a:r>
          </a:p>
        </p:txBody>
      </p:sp>
      <p:sp>
        <p:nvSpPr>
          <p:cNvPr id="4" name="Rectangle 3"/>
          <p:cNvSpPr/>
          <p:nvPr/>
        </p:nvSpPr>
        <p:spPr>
          <a:xfrm>
            <a:off x="594360" y="1847088"/>
            <a:ext cx="6766560" cy="2450592"/>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48256"/>
            <a:ext cx="6309360" cy="274320"/>
          </a:xfrm>
          <a:prstGeom prst="rect">
            <a:avLst/>
          </a:prstGeom>
          <a:noFill/>
        </p:spPr>
        <p:txBody>
          <a:bodyPr wrap="square" anchor="t" lIns="0" rIns="0" tIns="0" bIns="0">
            <a:spAutoFit/>
          </a:bodyPr>
          <a:lstStyle/>
          <a:p>
            <a:pPr algn="l"/>
            <a:r>
              <a:rPr sz="1050" b="1">
                <a:solidFill>
                  <a:srgbClr val="9A9A93"/>
                </a:solidFill>
                <a:latin typeface="Consolas"/>
              </a:rPr>
              <a:t>THE CONVENTION</a:t>
            </a:r>
          </a:p>
        </p:txBody>
      </p:sp>
      <p:sp>
        <p:nvSpPr>
          <p:cNvPr id="6" name="TextBox 5"/>
          <p:cNvSpPr txBox="1"/>
          <p:nvPr/>
        </p:nvSpPr>
        <p:spPr>
          <a:xfrm>
            <a:off x="868680" y="2359152"/>
            <a:ext cx="6400800" cy="1737360"/>
          </a:xfrm>
          <a:prstGeom prst="rect">
            <a:avLst/>
          </a:prstGeom>
          <a:noFill/>
        </p:spPr>
        <p:txBody>
          <a:bodyPr wrap="square" anchor="t" lIns="0" rIns="0" tIns="0" bIns="0">
            <a:spAutoFit/>
          </a:bodyPr>
          <a:lstStyle/>
          <a:p>
            <a:pPr algn="l">
              <a:lnSpc>
                <a:spcPct val="120000"/>
              </a:lnSpc>
              <a:spcAft>
                <a:spcPts val="700"/>
              </a:spcAft>
            </a:pPr>
            <a:r>
              <a:rPr sz="1250" b="0">
                <a:solidFill>
                  <a:srgbClr val="66665F"/>
                </a:solidFill>
                <a:latin typeface="Segoe UI"/>
              </a:rPr>
              <a:t>One folder per branch  —  feature/discount-codes  →  testcases/feature-discount-codes/</a:t>
            </a:r>
          </a:p>
          <a:p>
            <a:pPr algn="l">
              <a:lnSpc>
                <a:spcPct val="120000"/>
              </a:lnSpc>
              <a:spcAft>
                <a:spcPts val="700"/>
              </a:spcAft>
            </a:pPr>
            <a:r>
              <a:rPr sz="1250" b="0">
                <a:solidFill>
                  <a:srgbClr val="66665F"/>
                </a:solidFill>
                <a:latin typeface="Segoe UI"/>
              </a:rPr>
              <a:t>The first recording on a branch creates testcases_&lt;datetime&gt;.md</a:t>
            </a:r>
          </a:p>
          <a:p>
            <a:pPr algn="l">
              <a:lnSpc>
                <a:spcPct val="120000"/>
              </a:lnSpc>
              <a:spcAft>
                <a:spcPts val="700"/>
              </a:spcAft>
            </a:pPr>
            <a:r>
              <a:rPr sz="1250" b="0">
                <a:solidFill>
                  <a:srgbClr val="66665F"/>
                </a:solidFill>
                <a:latin typeface="Segoe UI"/>
              </a:rPr>
              <a:t>Every later task on that branch appends a new dated section — it never opens a second file</a:t>
            </a:r>
          </a:p>
          <a:p>
            <a:pPr algn="l">
              <a:lnSpc>
                <a:spcPct val="120000"/>
              </a:lnSpc>
              <a:spcAft>
                <a:spcPts val="700"/>
              </a:spcAft>
            </a:pPr>
            <a:r>
              <a:rPr sz="1250" b="0">
                <a:solidFill>
                  <a:srgbClr val="66665F"/>
                </a:solidFill>
                <a:latin typeface="Segoe UI"/>
              </a:rPr>
              <a:t>Unit, integration and edge cases all listed, with the test file and the expected result</a:t>
            </a:r>
          </a:p>
        </p:txBody>
      </p:sp>
      <p:sp>
        <p:nvSpPr>
          <p:cNvPr id="7" name="TextBox 6"/>
          <p:cNvSpPr txBox="1"/>
          <p:nvPr/>
        </p:nvSpPr>
        <p:spPr>
          <a:xfrm>
            <a:off x="594360" y="4572000"/>
            <a:ext cx="6766560" cy="274320"/>
          </a:xfrm>
          <a:prstGeom prst="rect">
            <a:avLst/>
          </a:prstGeom>
          <a:noFill/>
        </p:spPr>
        <p:txBody>
          <a:bodyPr wrap="square" anchor="t" lIns="0" rIns="0" tIns="0" bIns="0">
            <a:spAutoFit/>
          </a:bodyPr>
          <a:lstStyle/>
          <a:p>
            <a:pPr algn="l"/>
            <a:r>
              <a:rPr sz="1050" b="1">
                <a:solidFill>
                  <a:srgbClr val="9A9A93"/>
                </a:solidFill>
                <a:latin typeface="Consolas"/>
              </a:rPr>
              <a:t>WHAT LANDS IN THE REPO</a:t>
            </a:r>
          </a:p>
        </p:txBody>
      </p:sp>
      <p:sp>
        <p:nvSpPr>
          <p:cNvPr id="8" name="Rectangle 7"/>
          <p:cNvSpPr/>
          <p:nvPr/>
        </p:nvSpPr>
        <p:spPr>
          <a:xfrm>
            <a:off x="594360" y="4864608"/>
            <a:ext cx="6766560" cy="1005840"/>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4992624"/>
            <a:ext cx="6400800" cy="822960"/>
          </a:xfrm>
          <a:prstGeom prst="rect">
            <a:avLst/>
          </a:prstGeom>
          <a:noFill/>
        </p:spPr>
        <p:txBody>
          <a:bodyPr wrap="square" anchor="t" lIns="0" rIns="0" tIns="0" bIns="0">
            <a:spAutoFit/>
          </a:bodyPr>
          <a:lstStyle/>
          <a:p>
            <a:pPr algn="l">
              <a:lnSpc>
                <a:spcPct val="115000"/>
              </a:lnSpc>
              <a:spcAft>
                <a:spcPts val="100"/>
              </a:spcAft>
            </a:pPr>
            <a:r>
              <a:rPr sz="950" b="0">
                <a:solidFill>
                  <a:srgbClr val="CADCFC"/>
                </a:solidFill>
                <a:latin typeface="Consolas"/>
              </a:rPr>
              <a:t>## 2026-06-12 03:51:49 — percentage discount codes</a:t>
            </a:r>
          </a:p>
          <a:p>
            <a:pPr algn="l">
              <a:lnSpc>
                <a:spcPct val="115000"/>
              </a:lnSpc>
              <a:spcAft>
                <a:spcPts val="100"/>
              </a:spcAft>
            </a:pPr>
            <a:r>
              <a:rPr sz="950" b="0">
                <a:solidFill>
                  <a:srgbClr val="CADCFC"/>
                </a:solidFill>
                <a:latin typeface="Consolas"/>
              </a:rPr>
              <a:t>| # | Test case                     | Type | Test file          | Expected     |</a:t>
            </a:r>
          </a:p>
          <a:p>
            <a:pPr algn="l">
              <a:lnSpc>
                <a:spcPct val="115000"/>
              </a:lnSpc>
              <a:spcAft>
                <a:spcPts val="100"/>
              </a:spcAft>
            </a:pPr>
            <a:r>
              <a:rPr sz="950" b="0">
                <a:solidFill>
                  <a:srgbClr val="CADCFC"/>
                </a:solidFill>
                <a:latin typeface="Consolas"/>
              </a:rPr>
              <a:t>| 1 | WELCOME10 applies 10% off     | unit | tests/test_cart.py | total -10%   |</a:t>
            </a:r>
          </a:p>
        </p:txBody>
      </p:sp>
      <p:sp>
        <p:nvSpPr>
          <p:cNvPr id="10" name="Rectangle 9"/>
          <p:cNvSpPr/>
          <p:nvPr/>
        </p:nvSpPr>
        <p:spPr>
          <a:xfrm>
            <a:off x="7607808" y="1847088"/>
            <a:ext cx="3986784" cy="4023360"/>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82127" y="2103120"/>
            <a:ext cx="3474720" cy="274320"/>
          </a:xfrm>
          <a:prstGeom prst="rect">
            <a:avLst/>
          </a:prstGeom>
          <a:noFill/>
        </p:spPr>
        <p:txBody>
          <a:bodyPr wrap="square" anchor="t" lIns="0" rIns="0" tIns="0" bIns="0">
            <a:spAutoFit/>
          </a:bodyPr>
          <a:lstStyle/>
          <a:p>
            <a:pPr algn="l"/>
            <a:r>
              <a:rPr sz="1050" b="1">
                <a:solidFill>
                  <a:srgbClr val="CADCFC"/>
                </a:solidFill>
                <a:latin typeface="Consolas"/>
              </a:rPr>
              <a:t>WHY BOTHER</a:t>
            </a:r>
          </a:p>
        </p:txBody>
      </p:sp>
      <p:sp>
        <p:nvSpPr>
          <p:cNvPr id="12" name="TextBox 11"/>
          <p:cNvSpPr txBox="1"/>
          <p:nvPr/>
        </p:nvSpPr>
        <p:spPr>
          <a:xfrm>
            <a:off x="7882127" y="2414016"/>
            <a:ext cx="3474720" cy="1097280"/>
          </a:xfrm>
          <a:prstGeom prst="rect">
            <a:avLst/>
          </a:prstGeom>
          <a:noFill/>
        </p:spPr>
        <p:txBody>
          <a:bodyPr wrap="square" anchor="t" lIns="0" rIns="0" tIns="0" bIns="0">
            <a:spAutoFit/>
          </a:bodyPr>
          <a:lstStyle/>
          <a:p>
            <a:pPr algn="l">
              <a:lnSpc>
                <a:spcPct val="115000"/>
              </a:lnSpc>
            </a:pPr>
            <a:r>
              <a:rPr sz="1900" b="1">
                <a:solidFill>
                  <a:srgbClr val="FFFFFF"/>
                </a:solidFill>
                <a:latin typeface="Segoe UI"/>
              </a:rPr>
              <a:t>A QA trail nobody had to write up afterwards</a:t>
            </a:r>
          </a:p>
        </p:txBody>
      </p:sp>
      <p:sp>
        <p:nvSpPr>
          <p:cNvPr id="13" name="TextBox 12"/>
          <p:cNvSpPr txBox="1"/>
          <p:nvPr/>
        </p:nvSpPr>
        <p:spPr>
          <a:xfrm>
            <a:off x="7882127" y="3712463"/>
            <a:ext cx="3493008" cy="2011680"/>
          </a:xfrm>
          <a:prstGeom prst="rect">
            <a:avLst/>
          </a:prstGeom>
          <a:noFill/>
        </p:spPr>
        <p:txBody>
          <a:bodyPr wrap="square" anchor="t" lIns="0" rIns="0" tIns="0" bIns="0">
            <a:spAutoFit/>
          </a:bodyPr>
          <a:lstStyle/>
          <a:p>
            <a:pPr algn="l">
              <a:lnSpc>
                <a:spcPct val="126000"/>
              </a:lnSpc>
            </a:pPr>
            <a:r>
              <a:rPr sz="1150" b="0">
                <a:solidFill>
                  <a:srgbClr val="CADCFC"/>
                </a:solidFill>
                <a:latin typeface="Segoe UI"/>
              </a:rPr>
              <a:t>Test-case documentation is normally the first thing dropped under deadline — and the first thing an auditor asks for.</a:t>
            </a:r>
          </a:p>
          <a:p>
            <a:pPr algn="l">
              <a:lnSpc>
                <a:spcPct val="126000"/>
              </a:lnSpc>
            </a:pPr>
            <a:r>
              <a:rPr sz="1150" b="0">
                <a:solidFill>
                  <a:srgbClr val="CADCFC"/>
                </a:solidFill>
                <a:latin typeface="Segoe UI"/>
              </a:rPr>
              <a:t/>
            </a:r>
          </a:p>
          <a:p>
            <a:pPr algn="l">
              <a:lnSpc>
                <a:spcPct val="126000"/>
              </a:lnSpc>
            </a:pPr>
            <a:r>
              <a:rPr sz="1150" b="0">
                <a:solidFill>
                  <a:srgbClr val="CADCFC"/>
                </a:solidFill>
                <a:latin typeface="Segoe UI"/>
              </a:rPr>
              <a:t>Here it is a by-product of doing the task at all. The timestamp, the branch and the commit tie it to real work that really ran.</a:t>
            </a:r>
          </a:p>
          <a:p>
            <a:pPr algn="l">
              <a:lnSpc>
                <a:spcPct val="126000"/>
              </a:lnSpc>
            </a:pPr>
            <a:r>
              <a:rPr sz="1150" b="0">
                <a:solidFill>
                  <a:srgbClr val="CADCFC"/>
                </a:solidFill>
                <a:latin typeface="Segoe UI"/>
              </a:rPr>
              <a:t/>
            </a:r>
          </a:p>
          <a:p>
            <a:pPr algn="l">
              <a:lnSpc>
                <a:spcPct val="126000"/>
              </a:lnSpc>
            </a:pPr>
            <a:r>
              <a:rPr sz="1150" b="0">
                <a:solidFill>
                  <a:srgbClr val="CADCFC"/>
                </a:solidFill>
                <a:latin typeface="Segoe UI"/>
              </a:rPr>
              <a:t>Five branches of it sit in the repo today.</a:t>
            </a:r>
          </a:p>
        </p:txBody>
      </p:sp>
      <p:sp>
        <p:nvSpPr>
          <p:cNvPr id="14" name="TextBox 13"/>
          <p:cNvSpPr txBox="1"/>
          <p:nvPr/>
        </p:nvSpPr>
        <p:spPr>
          <a:xfrm>
            <a:off x="594360" y="6053328"/>
            <a:ext cx="11000232" cy="365760"/>
          </a:xfrm>
          <a:prstGeom prst="rect">
            <a:avLst/>
          </a:prstGeom>
          <a:noFill/>
        </p:spPr>
        <p:txBody>
          <a:bodyPr wrap="square" anchor="t" lIns="0" rIns="0" tIns="0" bIns="0">
            <a:spAutoFit/>
          </a:bodyPr>
          <a:lstStyle/>
          <a:p>
            <a:pPr algn="l"/>
            <a:r>
              <a:rPr sz="1300" b="1">
                <a:solidFill>
                  <a:srgbClr val="1F1F1C"/>
                </a:solidFill>
                <a:latin typeface="Segoe UI"/>
              </a:rPr>
              <a:t>The append rule is the quiet one that matters: a branch's history stays in one file, in order, so you can read how the work actually developed.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Layer 3 — Then GitHub refuses to take our word for it</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A branch ruleset on main — enforced by the platform, not by team culture</a:t>
            </a:r>
          </a:p>
        </p:txBody>
      </p:sp>
      <p:sp>
        <p:nvSpPr>
          <p:cNvPr id="4" name="Rectangle 3"/>
          <p:cNvSpPr/>
          <p:nvPr/>
        </p:nvSpPr>
        <p:spPr>
          <a:xfrm>
            <a:off x="594360" y="1901952"/>
            <a:ext cx="402336" cy="347472"/>
          </a:xfrm>
          <a:prstGeom prst="rect">
            <a:avLst/>
          </a:prstGeom>
          <a:solidFill>
            <a:srgbClr val="244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901952"/>
            <a:ext cx="402336" cy="347472"/>
          </a:xfrm>
          <a:prstGeom prst="rect">
            <a:avLst/>
          </a:prstGeom>
          <a:noFill/>
        </p:spPr>
        <p:txBody>
          <a:bodyPr wrap="square" anchor="ctr" lIns="0" rIns="0" tIns="0" bIns="0">
            <a:spAutoFit/>
          </a:bodyPr>
          <a:lstStyle/>
          <a:p>
            <a:pPr algn="ctr"/>
            <a:r>
              <a:rPr sz="1400" b="1">
                <a:solidFill>
                  <a:srgbClr val="FFFFFF"/>
                </a:solidFill>
                <a:latin typeface="Segoe UI"/>
              </a:rPr>
              <a:t>✓</a:t>
            </a:r>
          </a:p>
        </p:txBody>
      </p:sp>
      <p:sp>
        <p:nvSpPr>
          <p:cNvPr id="6" name="TextBox 5"/>
          <p:cNvSpPr txBox="1"/>
          <p:nvPr/>
        </p:nvSpPr>
        <p:spPr>
          <a:xfrm>
            <a:off x="1179576" y="1865376"/>
            <a:ext cx="2432304" cy="310896"/>
          </a:xfrm>
          <a:prstGeom prst="rect">
            <a:avLst/>
          </a:prstGeom>
          <a:noFill/>
        </p:spPr>
        <p:txBody>
          <a:bodyPr wrap="square" anchor="t" lIns="0" rIns="0" tIns="0" bIns="0">
            <a:spAutoFit/>
          </a:bodyPr>
          <a:lstStyle/>
          <a:p>
            <a:pPr algn="l"/>
            <a:r>
              <a:rPr sz="1450" b="1">
                <a:solidFill>
                  <a:srgbClr val="1F1F1C"/>
                </a:solidFill>
                <a:latin typeface="Consolas"/>
              </a:rPr>
              <a:t>Pull request required</a:t>
            </a:r>
          </a:p>
        </p:txBody>
      </p:sp>
      <p:sp>
        <p:nvSpPr>
          <p:cNvPr id="7" name="TextBox 6"/>
          <p:cNvSpPr txBox="1"/>
          <p:nvPr/>
        </p:nvSpPr>
        <p:spPr>
          <a:xfrm>
            <a:off x="3703320" y="1883664"/>
            <a:ext cx="4160520" cy="658368"/>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A direct push to main is rejected outright: 'Changes must be made through a pull request.'</a:t>
            </a:r>
          </a:p>
        </p:txBody>
      </p:sp>
      <p:sp>
        <p:nvSpPr>
          <p:cNvPr id="8" name="Rectangle 7"/>
          <p:cNvSpPr/>
          <p:nvPr/>
        </p:nvSpPr>
        <p:spPr>
          <a:xfrm>
            <a:off x="594360" y="2560320"/>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688336"/>
            <a:ext cx="402336" cy="347472"/>
          </a:xfrm>
          <a:prstGeom prst="rect">
            <a:avLst/>
          </a:prstGeom>
          <a:solidFill>
            <a:srgbClr val="244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688336"/>
            <a:ext cx="402336" cy="347472"/>
          </a:xfrm>
          <a:prstGeom prst="rect">
            <a:avLst/>
          </a:prstGeom>
          <a:noFill/>
        </p:spPr>
        <p:txBody>
          <a:bodyPr wrap="square" anchor="ctr" lIns="0" rIns="0" tIns="0" bIns="0">
            <a:spAutoFit/>
          </a:bodyPr>
          <a:lstStyle/>
          <a:p>
            <a:pPr algn="ctr"/>
            <a:r>
              <a:rPr sz="1400" b="1">
                <a:solidFill>
                  <a:srgbClr val="FFFFFF"/>
                </a:solidFill>
                <a:latin typeface="Segoe UI"/>
              </a:rPr>
              <a:t>✓</a:t>
            </a:r>
          </a:p>
        </p:txBody>
      </p:sp>
      <p:sp>
        <p:nvSpPr>
          <p:cNvPr id="11" name="TextBox 10"/>
          <p:cNvSpPr txBox="1"/>
          <p:nvPr/>
        </p:nvSpPr>
        <p:spPr>
          <a:xfrm>
            <a:off x="1179576" y="2651760"/>
            <a:ext cx="2432304" cy="310896"/>
          </a:xfrm>
          <a:prstGeom prst="rect">
            <a:avLst/>
          </a:prstGeom>
          <a:noFill/>
        </p:spPr>
        <p:txBody>
          <a:bodyPr wrap="square" anchor="t" lIns="0" rIns="0" tIns="0" bIns="0">
            <a:spAutoFit/>
          </a:bodyPr>
          <a:lstStyle/>
          <a:p>
            <a:pPr algn="l"/>
            <a:r>
              <a:rPr sz="1450" b="1">
                <a:solidFill>
                  <a:srgbClr val="1F1F1C"/>
                </a:solidFill>
                <a:latin typeface="Consolas"/>
              </a:rPr>
              <a:t>2 approving reviews</a:t>
            </a:r>
          </a:p>
        </p:txBody>
      </p:sp>
      <p:sp>
        <p:nvSpPr>
          <p:cNvPr id="12" name="TextBox 11"/>
          <p:cNvSpPr txBox="1"/>
          <p:nvPr/>
        </p:nvSpPr>
        <p:spPr>
          <a:xfrm>
            <a:off x="3703320" y="2670048"/>
            <a:ext cx="4160520" cy="658368"/>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Not one. Approvals must come from collaborators with write access who are not the PR author.</a:t>
            </a:r>
          </a:p>
        </p:txBody>
      </p:sp>
      <p:sp>
        <p:nvSpPr>
          <p:cNvPr id="13" name="Rectangle 12"/>
          <p:cNvSpPr/>
          <p:nvPr/>
        </p:nvSpPr>
        <p:spPr>
          <a:xfrm>
            <a:off x="594360" y="3346703"/>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474720"/>
            <a:ext cx="402336" cy="347472"/>
          </a:xfrm>
          <a:prstGeom prst="rect">
            <a:avLst/>
          </a:prstGeom>
          <a:solidFill>
            <a:srgbClr val="244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474720"/>
            <a:ext cx="402336" cy="347472"/>
          </a:xfrm>
          <a:prstGeom prst="rect">
            <a:avLst/>
          </a:prstGeom>
          <a:noFill/>
        </p:spPr>
        <p:txBody>
          <a:bodyPr wrap="square" anchor="ctr" lIns="0" rIns="0" tIns="0" bIns="0">
            <a:spAutoFit/>
          </a:bodyPr>
          <a:lstStyle/>
          <a:p>
            <a:pPr algn="ctr"/>
            <a:r>
              <a:rPr sz="1400" b="1">
                <a:solidFill>
                  <a:srgbClr val="FFFFFF"/>
                </a:solidFill>
                <a:latin typeface="Segoe UI"/>
              </a:rPr>
              <a:t>✓</a:t>
            </a:r>
          </a:p>
        </p:txBody>
      </p:sp>
      <p:sp>
        <p:nvSpPr>
          <p:cNvPr id="16" name="TextBox 15"/>
          <p:cNvSpPr txBox="1"/>
          <p:nvPr/>
        </p:nvSpPr>
        <p:spPr>
          <a:xfrm>
            <a:off x="1179576" y="3438144"/>
            <a:ext cx="2432304" cy="310896"/>
          </a:xfrm>
          <a:prstGeom prst="rect">
            <a:avLst/>
          </a:prstGeom>
          <a:noFill/>
        </p:spPr>
        <p:txBody>
          <a:bodyPr wrap="square" anchor="t" lIns="0" rIns="0" tIns="0" bIns="0">
            <a:spAutoFit/>
          </a:bodyPr>
          <a:lstStyle/>
          <a:p>
            <a:pPr algn="l"/>
            <a:r>
              <a:rPr sz="1450" b="1">
                <a:solidFill>
                  <a:srgbClr val="1F1F1C"/>
                </a:solidFill>
                <a:latin typeface="Consolas"/>
              </a:rPr>
              <a:t>tests</a:t>
            </a:r>
          </a:p>
        </p:txBody>
      </p:sp>
      <p:sp>
        <p:nvSpPr>
          <p:cNvPr id="17" name="TextBox 16"/>
          <p:cNvSpPr txBox="1"/>
          <p:nvPr/>
        </p:nvSpPr>
        <p:spPr>
          <a:xfrm>
            <a:off x="3703320" y="3456432"/>
            <a:ext cx="4160520" cy="658368"/>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The CI suite must pass — pytest, with the coverage floor.</a:t>
            </a:r>
          </a:p>
        </p:txBody>
      </p:sp>
      <p:sp>
        <p:nvSpPr>
          <p:cNvPr id="18" name="Rectangle 17"/>
          <p:cNvSpPr/>
          <p:nvPr/>
        </p:nvSpPr>
        <p:spPr>
          <a:xfrm>
            <a:off x="594360" y="4133087"/>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4261103"/>
            <a:ext cx="402336" cy="347472"/>
          </a:xfrm>
          <a:prstGeom prst="rect">
            <a:avLst/>
          </a:prstGeom>
          <a:solidFill>
            <a:srgbClr val="244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261103"/>
            <a:ext cx="402336" cy="347472"/>
          </a:xfrm>
          <a:prstGeom prst="rect">
            <a:avLst/>
          </a:prstGeom>
          <a:noFill/>
        </p:spPr>
        <p:txBody>
          <a:bodyPr wrap="square" anchor="ctr" lIns="0" rIns="0" tIns="0" bIns="0">
            <a:spAutoFit/>
          </a:bodyPr>
          <a:lstStyle/>
          <a:p>
            <a:pPr algn="ctr"/>
            <a:r>
              <a:rPr sz="1400" b="1">
                <a:solidFill>
                  <a:srgbClr val="FFFFFF"/>
                </a:solidFill>
                <a:latin typeface="Segoe UI"/>
              </a:rPr>
              <a:t>✓</a:t>
            </a:r>
          </a:p>
        </p:txBody>
      </p:sp>
      <p:sp>
        <p:nvSpPr>
          <p:cNvPr id="21" name="TextBox 20"/>
          <p:cNvSpPr txBox="1"/>
          <p:nvPr/>
        </p:nvSpPr>
        <p:spPr>
          <a:xfrm>
            <a:off x="1179576" y="4224528"/>
            <a:ext cx="2432304" cy="310896"/>
          </a:xfrm>
          <a:prstGeom prst="rect">
            <a:avLst/>
          </a:prstGeom>
          <a:noFill/>
        </p:spPr>
        <p:txBody>
          <a:bodyPr wrap="square" anchor="t" lIns="0" rIns="0" tIns="0" bIns="0">
            <a:spAutoFit/>
          </a:bodyPr>
          <a:lstStyle/>
          <a:p>
            <a:pPr algn="l"/>
            <a:r>
              <a:rPr sz="1450" b="1">
                <a:solidFill>
                  <a:srgbClr val="1F1F1C"/>
                </a:solidFill>
                <a:latin typeface="Consolas"/>
              </a:rPr>
              <a:t>Analyze (python)</a:t>
            </a:r>
          </a:p>
        </p:txBody>
      </p:sp>
      <p:sp>
        <p:nvSpPr>
          <p:cNvPr id="22" name="TextBox 21"/>
          <p:cNvSpPr txBox="1"/>
          <p:nvPr/>
        </p:nvSpPr>
        <p:spPr>
          <a:xfrm>
            <a:off x="3703320" y="4242816"/>
            <a:ext cx="4160520" cy="658368"/>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CodeQL static analysis must complete clean.</a:t>
            </a:r>
          </a:p>
        </p:txBody>
      </p:sp>
      <p:sp>
        <p:nvSpPr>
          <p:cNvPr id="23" name="Rectangle 22"/>
          <p:cNvSpPr/>
          <p:nvPr/>
        </p:nvSpPr>
        <p:spPr>
          <a:xfrm>
            <a:off x="594360" y="4919472"/>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 y="5047488"/>
            <a:ext cx="402336" cy="347472"/>
          </a:xfrm>
          <a:prstGeom prst="rect">
            <a:avLst/>
          </a:prstGeom>
          <a:solidFill>
            <a:srgbClr val="244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047488"/>
            <a:ext cx="402336" cy="347472"/>
          </a:xfrm>
          <a:prstGeom prst="rect">
            <a:avLst/>
          </a:prstGeom>
          <a:noFill/>
        </p:spPr>
        <p:txBody>
          <a:bodyPr wrap="square" anchor="ctr" lIns="0" rIns="0" tIns="0" bIns="0">
            <a:spAutoFit/>
          </a:bodyPr>
          <a:lstStyle/>
          <a:p>
            <a:pPr algn="ctr"/>
            <a:r>
              <a:rPr sz="1400" b="1">
                <a:solidFill>
                  <a:srgbClr val="FFFFFF"/>
                </a:solidFill>
                <a:latin typeface="Segoe UI"/>
              </a:rPr>
              <a:t>✓</a:t>
            </a:r>
          </a:p>
        </p:txBody>
      </p:sp>
      <p:sp>
        <p:nvSpPr>
          <p:cNvPr id="26" name="TextBox 25"/>
          <p:cNvSpPr txBox="1"/>
          <p:nvPr/>
        </p:nvSpPr>
        <p:spPr>
          <a:xfrm>
            <a:off x="1179576" y="5010912"/>
            <a:ext cx="2432304" cy="310896"/>
          </a:xfrm>
          <a:prstGeom prst="rect">
            <a:avLst/>
          </a:prstGeom>
          <a:noFill/>
        </p:spPr>
        <p:txBody>
          <a:bodyPr wrap="square" anchor="t" lIns="0" rIns="0" tIns="0" bIns="0">
            <a:spAutoFit/>
          </a:bodyPr>
          <a:lstStyle/>
          <a:p>
            <a:pPr algn="l"/>
            <a:r>
              <a:rPr sz="1450" b="1">
                <a:solidFill>
                  <a:srgbClr val="1F1F1C"/>
                </a:solidFill>
                <a:latin typeface="Consolas"/>
              </a:rPr>
              <a:t>security-scan</a:t>
            </a:r>
          </a:p>
        </p:txBody>
      </p:sp>
      <p:sp>
        <p:nvSpPr>
          <p:cNvPr id="27" name="TextBox 26"/>
          <p:cNvSpPr txBox="1"/>
          <p:nvPr/>
        </p:nvSpPr>
        <p:spPr>
          <a:xfrm>
            <a:off x="3703320" y="5029200"/>
            <a:ext cx="4160520" cy="658368"/>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Bandit plus dependency review. A hardcoded password or an eval() on user input fails the check and blocks the merge — even with both approvals in.</a:t>
            </a:r>
          </a:p>
        </p:txBody>
      </p:sp>
      <p:sp>
        <p:nvSpPr>
          <p:cNvPr id="28" name="Rectangle 27"/>
          <p:cNvSpPr/>
          <p:nvPr/>
        </p:nvSpPr>
        <p:spPr>
          <a:xfrm>
            <a:off x="8229600" y="1847088"/>
            <a:ext cx="3364992" cy="3877056"/>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3920" y="2103120"/>
            <a:ext cx="2834640" cy="274320"/>
          </a:xfrm>
          <a:prstGeom prst="rect">
            <a:avLst/>
          </a:prstGeom>
          <a:noFill/>
        </p:spPr>
        <p:txBody>
          <a:bodyPr wrap="square" anchor="t" lIns="0" rIns="0" tIns="0" bIns="0">
            <a:spAutoFit/>
          </a:bodyPr>
          <a:lstStyle/>
          <a:p>
            <a:pPr algn="l"/>
            <a:r>
              <a:rPr sz="1050" b="1">
                <a:solidFill>
                  <a:srgbClr val="C26B2A"/>
                </a:solidFill>
                <a:latin typeface="Consolas"/>
              </a:rPr>
              <a:t>HONEST FOOTNOTE</a:t>
            </a:r>
          </a:p>
        </p:txBody>
      </p:sp>
      <p:sp>
        <p:nvSpPr>
          <p:cNvPr id="30" name="TextBox 29"/>
          <p:cNvSpPr txBox="1"/>
          <p:nvPr/>
        </p:nvSpPr>
        <p:spPr>
          <a:xfrm>
            <a:off x="8503920" y="2414016"/>
            <a:ext cx="2852928" cy="822960"/>
          </a:xfrm>
          <a:prstGeom prst="rect">
            <a:avLst/>
          </a:prstGeom>
          <a:noFill/>
        </p:spPr>
        <p:txBody>
          <a:bodyPr wrap="square" anchor="t" lIns="0" rIns="0" tIns="0" bIns="0">
            <a:spAutoFit/>
          </a:bodyPr>
          <a:lstStyle/>
          <a:p>
            <a:pPr algn="l">
              <a:lnSpc>
                <a:spcPct val="115000"/>
              </a:lnSpc>
            </a:pPr>
            <a:r>
              <a:rPr sz="1900" b="1">
                <a:solidFill>
                  <a:srgbClr val="FFFFFF"/>
                </a:solidFill>
                <a:latin typeface="Segoe UI"/>
              </a:rPr>
              <a:t>Two real constraints</a:t>
            </a:r>
          </a:p>
        </p:txBody>
      </p:sp>
      <p:sp>
        <p:nvSpPr>
          <p:cNvPr id="31" name="TextBox 30"/>
          <p:cNvSpPr txBox="1"/>
          <p:nvPr/>
        </p:nvSpPr>
        <p:spPr>
          <a:xfrm>
            <a:off x="8503920" y="3291840"/>
            <a:ext cx="2852928" cy="2286000"/>
          </a:xfrm>
          <a:prstGeom prst="rect">
            <a:avLst/>
          </a:prstGeom>
          <a:noFill/>
        </p:spPr>
        <p:txBody>
          <a:bodyPr wrap="square" anchor="t" lIns="0" rIns="0" tIns="0" bIns="0">
            <a:spAutoFit/>
          </a:bodyPr>
          <a:lstStyle/>
          <a:p>
            <a:pPr algn="l">
              <a:lnSpc>
                <a:spcPct val="126000"/>
              </a:lnSpc>
            </a:pPr>
            <a:r>
              <a:rPr sz="1150" b="0">
                <a:solidFill>
                  <a:srgbClr val="CADCFC"/>
                </a:solidFill>
                <a:latin typeface="Segoe UI"/>
              </a:rPr>
              <a:t>Branch rulesets are only enforced on public repos under the GitHub Free plan — a private repo needs Pro or Team.</a:t>
            </a:r>
          </a:p>
          <a:p>
            <a:pPr algn="l">
              <a:lnSpc>
                <a:spcPct val="126000"/>
              </a:lnSpc>
            </a:pPr>
            <a:r>
              <a:rPr sz="1150" b="0">
                <a:solidFill>
                  <a:srgbClr val="CADCFC"/>
                </a:solidFill>
                <a:latin typeface="Segoe UI"/>
              </a:rPr>
              <a:t/>
            </a:r>
          </a:p>
          <a:p>
            <a:pPr algn="l">
              <a:lnSpc>
                <a:spcPct val="126000"/>
              </a:lnSpc>
            </a:pPr>
            <a:r>
              <a:rPr sz="1150" b="0">
                <a:solidFill>
                  <a:srgbClr val="CADCFC"/>
                </a:solidFill>
                <a:latin typeface="Segoe UI"/>
              </a:rPr>
              <a:t>The 2-approval rule needs at least two collaborators with write access besides the author. A solo repo cannot satisfy it.</a:t>
            </a:r>
          </a:p>
        </p:txBody>
      </p:sp>
      <p:sp>
        <p:nvSpPr>
          <p:cNvPr id="32" name="TextBox 31"/>
          <p:cNvSpPr txBox="1"/>
          <p:nvPr/>
        </p:nvSpPr>
        <p:spPr>
          <a:xfrm>
            <a:off x="594360" y="5961888"/>
            <a:ext cx="11000232" cy="365760"/>
          </a:xfrm>
          <a:prstGeom prst="rect">
            <a:avLst/>
          </a:prstGeom>
          <a:noFill/>
        </p:spPr>
        <p:txBody>
          <a:bodyPr wrap="square" anchor="t" lIns="0" rIns="0" tIns="0" bIns="0">
            <a:spAutoFit/>
          </a:bodyPr>
          <a:lstStyle/>
          <a:p>
            <a:pPr algn="l"/>
            <a:r>
              <a:rPr sz="1300" b="1">
                <a:solidFill>
                  <a:srgbClr val="1F1F1C"/>
                </a:solidFill>
                <a:latin typeface="Segoe UI"/>
              </a:rPr>
              <a:t>Worth stating the obvious: this layer binds the humans exactly as much as it binds the agent.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We can demonstrate all of it in about fifteen minutes</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AIFlowTesting exists for exactly this — a small shopping-cart repo wired with the full setup</a:t>
            </a:r>
          </a:p>
        </p:txBody>
      </p:sp>
      <p:sp>
        <p:nvSpPr>
          <p:cNvPr id="4" name="Rectangle 3"/>
          <p:cNvSpPr/>
          <p:nvPr/>
        </p:nvSpPr>
        <p:spPr>
          <a:xfrm>
            <a:off x="594360" y="1883664"/>
            <a:ext cx="5394960" cy="3785615"/>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6968" y="2121408"/>
            <a:ext cx="512064" cy="347472"/>
          </a:xfrm>
          <a:prstGeom prst="rect">
            <a:avLst/>
          </a:prstGeom>
          <a:solidFill>
            <a:srgbClr val="5F8C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2121408"/>
            <a:ext cx="512064" cy="347472"/>
          </a:xfrm>
          <a:prstGeom prst="rect">
            <a:avLst/>
          </a:prstGeom>
          <a:noFill/>
        </p:spPr>
        <p:txBody>
          <a:bodyPr wrap="square" anchor="ctr" lIns="0" rIns="0" tIns="0" bIns="0">
            <a:spAutoFit/>
          </a:bodyPr>
          <a:lstStyle/>
          <a:p>
            <a:pPr algn="ctr"/>
            <a:r>
              <a:rPr sz="1500" b="1">
                <a:solidFill>
                  <a:srgbClr val="FFFFFF"/>
                </a:solidFill>
                <a:latin typeface="Consolas"/>
              </a:rPr>
              <a:t>01</a:t>
            </a:r>
          </a:p>
        </p:txBody>
      </p:sp>
      <p:sp>
        <p:nvSpPr>
          <p:cNvPr id="7" name="TextBox 6"/>
          <p:cNvSpPr txBox="1"/>
          <p:nvPr/>
        </p:nvSpPr>
        <p:spPr>
          <a:xfrm>
            <a:off x="1545336" y="2139696"/>
            <a:ext cx="4206240" cy="329184"/>
          </a:xfrm>
          <a:prstGeom prst="rect">
            <a:avLst/>
          </a:prstGeom>
          <a:noFill/>
        </p:spPr>
        <p:txBody>
          <a:bodyPr wrap="square" anchor="t" lIns="0" rIns="0" tIns="0" bIns="0">
            <a:spAutoFit/>
          </a:bodyPr>
          <a:lstStyle/>
          <a:p>
            <a:pPr algn="l"/>
            <a:r>
              <a:rPr sz="1800" b="1">
                <a:solidFill>
                  <a:srgbClr val="1F1F1C"/>
                </a:solidFill>
                <a:latin typeface="Segoe UI"/>
              </a:rPr>
              <a:t>The workflow, live</a:t>
            </a:r>
          </a:p>
        </p:txBody>
      </p:sp>
      <p:sp>
        <p:nvSpPr>
          <p:cNvPr id="8" name="TextBox 7"/>
          <p:cNvSpPr txBox="1"/>
          <p:nvPr/>
        </p:nvSpPr>
        <p:spPr>
          <a:xfrm>
            <a:off x="886968" y="2688336"/>
            <a:ext cx="4828032" cy="2651760"/>
          </a:xfrm>
          <a:prstGeom prst="rect">
            <a:avLst/>
          </a:prstGeom>
          <a:noFill/>
        </p:spPr>
        <p:txBody>
          <a:bodyPr wrap="square" anchor="t" lIns="0" rIns="0" tIns="0" bIns="0">
            <a:spAutoFit/>
          </a:bodyPr>
          <a:lstStyle/>
          <a:p>
            <a:pPr algn="l">
              <a:lnSpc>
                <a:spcPct val="124000"/>
              </a:lnSpc>
              <a:spcAft>
                <a:spcPts val="300"/>
              </a:spcAft>
            </a:pPr>
            <a:r>
              <a:rPr sz="1200" b="0">
                <a:solidFill>
                  <a:srgbClr val="66665F"/>
                </a:solidFill>
                <a:latin typeface="Segoe UI"/>
              </a:rPr>
              <a:t>Ask for a real feature — percentage discount codes, with invalid codes rejected.</a:t>
            </a:r>
          </a:p>
          <a:p>
            <a:pPr algn="l">
              <a:lnSpc>
                <a:spcPct val="124000"/>
              </a:lnSpc>
              <a:spcAft>
                <a:spcPts val="300"/>
              </a:spcAft>
            </a:pPr>
            <a:r>
              <a:rPr sz="1200" b="0">
                <a:solidFill>
                  <a:srgbClr val="66665F"/>
                </a:solidFill>
                <a:latin typeface="Segoe UI"/>
              </a:rPr>
              <a:t/>
            </a:r>
          </a:p>
          <a:p>
            <a:pPr algn="l">
              <a:lnSpc>
                <a:spcPct val="124000"/>
              </a:lnSpc>
              <a:spcAft>
                <a:spcPts val="300"/>
              </a:spcAft>
            </a:pPr>
            <a:r>
              <a:rPr sz="1200" b="0">
                <a:solidFill>
                  <a:srgbClr val="66665F"/>
                </a:solidFill>
                <a:latin typeface="Segoe UI"/>
              </a:rPr>
              <a:t>Watch for: a feature branch appears, never main · the plan comes back and the agent stops dead for approval · failing tests are written before the implementation · the test-case log materialises · code review and security review both run · a local commit, and no push.</a:t>
            </a:r>
          </a:p>
          <a:p>
            <a:pPr algn="l">
              <a:lnSpc>
                <a:spcPct val="124000"/>
              </a:lnSpc>
              <a:spcAft>
                <a:spcPts val="300"/>
              </a:spcAft>
            </a:pPr>
            <a:r>
              <a:rPr sz="1200" b="0">
                <a:solidFill>
                  <a:srgbClr val="66665F"/>
                </a:solidFill>
                <a:latin typeface="Segoe UI"/>
              </a:rPr>
              <a:t/>
            </a:r>
          </a:p>
          <a:p>
            <a:pPr algn="l">
              <a:lnSpc>
                <a:spcPct val="124000"/>
              </a:lnSpc>
              <a:spcAft>
                <a:spcPts val="300"/>
              </a:spcAft>
            </a:pPr>
            <a:r>
              <a:rPr sz="1200" b="0">
                <a:solidFill>
                  <a:srgbClr val="66665F"/>
                </a:solidFill>
                <a:latin typeface="Segoe UI"/>
              </a:rPr>
              <a:t>Then ask for a follow-up on the same branch and show the log appending rather than opening a second file.</a:t>
            </a:r>
          </a:p>
        </p:txBody>
      </p:sp>
      <p:sp>
        <p:nvSpPr>
          <p:cNvPr id="9" name="Rectangle 8"/>
          <p:cNvSpPr/>
          <p:nvPr/>
        </p:nvSpPr>
        <p:spPr>
          <a:xfrm>
            <a:off x="6199632" y="1883664"/>
            <a:ext cx="5394960" cy="3785615"/>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2121408"/>
            <a:ext cx="512064" cy="347472"/>
          </a:xfrm>
          <a:prstGeom prst="rect">
            <a:avLst/>
          </a:prstGeom>
          <a:solidFill>
            <a:srgbClr val="8FA8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121408"/>
            <a:ext cx="512064" cy="347472"/>
          </a:xfrm>
          <a:prstGeom prst="rect">
            <a:avLst/>
          </a:prstGeom>
          <a:noFill/>
        </p:spPr>
        <p:txBody>
          <a:bodyPr wrap="square" anchor="ctr" lIns="0" rIns="0" tIns="0" bIns="0">
            <a:spAutoFit/>
          </a:bodyPr>
          <a:lstStyle/>
          <a:p>
            <a:pPr algn="ctr"/>
            <a:r>
              <a:rPr sz="1500" b="1">
                <a:solidFill>
                  <a:srgbClr val="16233F"/>
                </a:solidFill>
                <a:latin typeface="Consolas"/>
              </a:rPr>
              <a:t>02</a:t>
            </a:r>
          </a:p>
        </p:txBody>
      </p:sp>
      <p:sp>
        <p:nvSpPr>
          <p:cNvPr id="12" name="TextBox 11"/>
          <p:cNvSpPr txBox="1"/>
          <p:nvPr/>
        </p:nvSpPr>
        <p:spPr>
          <a:xfrm>
            <a:off x="7150608" y="2139696"/>
            <a:ext cx="4206240" cy="329184"/>
          </a:xfrm>
          <a:prstGeom prst="rect">
            <a:avLst/>
          </a:prstGeom>
          <a:noFill/>
        </p:spPr>
        <p:txBody>
          <a:bodyPr wrap="square" anchor="t" lIns="0" rIns="0" tIns="0" bIns="0">
            <a:spAutoFit/>
          </a:bodyPr>
          <a:lstStyle/>
          <a:p>
            <a:pPr algn="l"/>
            <a:r>
              <a:rPr sz="1800" b="1">
                <a:solidFill>
                  <a:srgbClr val="FFFFFF"/>
                </a:solidFill>
                <a:latin typeface="Segoe UI"/>
              </a:rPr>
              <a:t>The gate, live</a:t>
            </a:r>
          </a:p>
        </p:txBody>
      </p:sp>
      <p:sp>
        <p:nvSpPr>
          <p:cNvPr id="13" name="TextBox 12"/>
          <p:cNvSpPr txBox="1"/>
          <p:nvPr/>
        </p:nvSpPr>
        <p:spPr>
          <a:xfrm>
            <a:off x="6492240" y="2688336"/>
            <a:ext cx="4828032" cy="2651760"/>
          </a:xfrm>
          <a:prstGeom prst="rect">
            <a:avLst/>
          </a:prstGeom>
          <a:noFill/>
        </p:spPr>
        <p:txBody>
          <a:bodyPr wrap="square" anchor="t" lIns="0" rIns="0" tIns="0" bIns="0">
            <a:spAutoFit/>
          </a:bodyPr>
          <a:lstStyle/>
          <a:p>
            <a:pPr algn="l">
              <a:lnSpc>
                <a:spcPct val="124000"/>
              </a:lnSpc>
              <a:spcAft>
                <a:spcPts val="300"/>
              </a:spcAft>
            </a:pPr>
            <a:r>
              <a:rPr sz="1200" b="0">
                <a:solidFill>
                  <a:srgbClr val="CADCFC"/>
                </a:solidFill>
                <a:latin typeface="Segoe UI"/>
              </a:rPr>
              <a:t>Try to push a trivial change straight to main. GitHub rejects it in front of the room.</a:t>
            </a:r>
          </a:p>
          <a:p>
            <a:pPr algn="l">
              <a:lnSpc>
                <a:spcPct val="124000"/>
              </a:lnSpc>
              <a:spcAft>
                <a:spcPts val="300"/>
              </a:spcAft>
            </a:pPr>
            <a:r>
              <a:rPr sz="1200" b="0">
                <a:solidFill>
                  <a:srgbClr val="CADCFC"/>
                </a:solidFill>
                <a:latin typeface="Segoe UI"/>
              </a:rPr>
              <a:t/>
            </a:r>
          </a:p>
          <a:p>
            <a:pPr algn="l">
              <a:lnSpc>
                <a:spcPct val="124000"/>
              </a:lnSpc>
              <a:spcAft>
                <a:spcPts val="300"/>
              </a:spcAft>
            </a:pPr>
            <a:r>
              <a:rPr sz="1200" b="0">
                <a:solidFill>
                  <a:srgbClr val="CADCFC"/>
                </a:solidFill>
                <a:latin typeface="Segoe UI"/>
              </a:rPr>
              <a:t>Open the PR from the branch we just built. The merge button is blocked: 'Review required — 2 approving reviews'. Checks queue up: tests, security-scan, Analyze (python).</a:t>
            </a:r>
          </a:p>
          <a:p>
            <a:pPr algn="l">
              <a:lnSpc>
                <a:spcPct val="124000"/>
              </a:lnSpc>
              <a:spcAft>
                <a:spcPts val="300"/>
              </a:spcAft>
            </a:pPr>
            <a:r>
              <a:rPr sz="1200" b="0">
                <a:solidFill>
                  <a:srgbClr val="CADCFC"/>
                </a:solidFill>
                <a:latin typeface="Segoe UI"/>
              </a:rPr>
              <a:t/>
            </a:r>
          </a:p>
          <a:p>
            <a:pPr algn="l">
              <a:lnSpc>
                <a:spcPct val="124000"/>
              </a:lnSpc>
              <a:spcAft>
                <a:spcPts val="300"/>
              </a:spcAft>
            </a:pPr>
            <a:r>
              <a:rPr sz="1200" b="0">
                <a:solidFill>
                  <a:srgbClr val="CADCFC"/>
                </a:solidFill>
                <a:latin typeface="Segoe UI"/>
              </a:rPr>
              <a:t>One approval — still blocked. Second approval, checks green — merge unlocks.</a:t>
            </a:r>
          </a:p>
          <a:p>
            <a:pPr algn="l">
              <a:lnSpc>
                <a:spcPct val="124000"/>
              </a:lnSpc>
              <a:spcAft>
                <a:spcPts val="300"/>
              </a:spcAft>
            </a:pPr>
            <a:r>
              <a:rPr sz="1200" b="0">
                <a:solidFill>
                  <a:srgbClr val="CADCFC"/>
                </a:solidFill>
                <a:latin typeface="Segoe UI"/>
              </a:rPr>
              <a:t/>
            </a:r>
          </a:p>
          <a:p>
            <a:pPr algn="l">
              <a:lnSpc>
                <a:spcPct val="124000"/>
              </a:lnSpc>
              <a:spcAft>
                <a:spcPts val="300"/>
              </a:spcAft>
            </a:pPr>
            <a:r>
              <a:rPr sz="1200" b="0">
                <a:solidFill>
                  <a:srgbClr val="CADCFC"/>
                </a:solidFill>
                <a:latin typeface="Segoe UI"/>
              </a:rPr>
              <a:t>Optional: push a hardcoded password and watch security-scan block the merge anyway.</a:t>
            </a:r>
          </a:p>
        </p:txBody>
      </p:sp>
      <p:sp>
        <p:nvSpPr>
          <p:cNvPr id="14" name="TextBox 13"/>
          <p:cNvSpPr txBox="1"/>
          <p:nvPr/>
        </p:nvSpPr>
        <p:spPr>
          <a:xfrm>
            <a:off x="594360" y="5888736"/>
            <a:ext cx="11000232" cy="365760"/>
          </a:xfrm>
          <a:prstGeom prst="rect">
            <a:avLst/>
          </a:prstGeom>
          <a:noFill/>
        </p:spPr>
        <p:txBody>
          <a:bodyPr wrap="square" anchor="t" lIns="0" rIns="0" tIns="0" bIns="0">
            <a:spAutoFit/>
          </a:bodyPr>
          <a:lstStyle/>
          <a:p>
            <a:pPr algn="l"/>
            <a:r>
              <a:rPr sz="1300" b="1">
                <a:solidFill>
                  <a:srgbClr val="1F1F1C"/>
                </a:solidFill>
                <a:latin typeface="Segoe UI"/>
              </a:rPr>
              <a:t>Nothing here is staged. Same repo, same rules, same CI a real project would run.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Layer 4 — Reading it all back as numbers</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ManagementDashboard — and the tracked repos do not change a single line</a:t>
            </a:r>
          </a:p>
        </p:txBody>
      </p:sp>
      <p:sp>
        <p:nvSpPr>
          <p:cNvPr id="4" name="Rectangle 3"/>
          <p:cNvSpPr/>
          <p:nvPr/>
        </p:nvSpPr>
        <p:spPr>
          <a:xfrm>
            <a:off x="594360" y="1920240"/>
            <a:ext cx="1965960" cy="475488"/>
          </a:xfrm>
          <a:prstGeom prst="rect">
            <a:avLst/>
          </a:prstGeom>
          <a:solidFill>
            <a:srgbClr val="BFC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920240"/>
            <a:ext cx="1965960" cy="475488"/>
          </a:xfrm>
          <a:prstGeom prst="rect">
            <a:avLst/>
          </a:prstGeom>
          <a:noFill/>
        </p:spPr>
        <p:txBody>
          <a:bodyPr wrap="square" anchor="ctr" lIns="0" rIns="0" tIns="0" bIns="0">
            <a:spAutoFit/>
          </a:bodyPr>
          <a:lstStyle/>
          <a:p>
            <a:pPr algn="ctr"/>
            <a:r>
              <a:rPr sz="1150" b="1">
                <a:solidFill>
                  <a:srgbClr val="FFFFFF"/>
                </a:solidFill>
                <a:latin typeface="Consolas"/>
              </a:rPr>
              <a:t>config.toml</a:t>
            </a:r>
          </a:p>
        </p:txBody>
      </p:sp>
      <p:sp>
        <p:nvSpPr>
          <p:cNvPr id="6" name="TextBox 5"/>
          <p:cNvSpPr txBox="1"/>
          <p:nvPr/>
        </p:nvSpPr>
        <p:spPr>
          <a:xfrm>
            <a:off x="594360" y="2560320"/>
            <a:ext cx="1965960" cy="1737360"/>
          </a:xfrm>
          <a:prstGeom prst="rect">
            <a:avLst/>
          </a:prstGeom>
          <a:noFill/>
        </p:spPr>
        <p:txBody>
          <a:bodyPr wrap="square" anchor="t" lIns="0" rIns="0" tIns="0" bIns="0">
            <a:spAutoFit/>
          </a:bodyPr>
          <a:lstStyle/>
          <a:p>
            <a:pPr algn="l">
              <a:lnSpc>
                <a:spcPct val="125000"/>
              </a:lnSpc>
            </a:pPr>
            <a:r>
              <a:rPr sz="1100" b="0">
                <a:solidFill>
                  <a:srgbClr val="66665F"/>
                </a:solidFill>
                <a:latin typeface="Segoe UI"/>
              </a:rPr>
              <a:t>A few lines per repo. Adding a project to the dashboard is a config edit, nothing more.</a:t>
            </a:r>
          </a:p>
        </p:txBody>
      </p:sp>
      <p:sp>
        <p:nvSpPr>
          <p:cNvPr id="7" name="TextBox 6"/>
          <p:cNvSpPr txBox="1"/>
          <p:nvPr/>
        </p:nvSpPr>
        <p:spPr>
          <a:xfrm>
            <a:off x="2560320" y="1920240"/>
            <a:ext cx="292608" cy="475488"/>
          </a:xfrm>
          <a:prstGeom prst="rect">
            <a:avLst/>
          </a:prstGeom>
          <a:noFill/>
        </p:spPr>
        <p:txBody>
          <a:bodyPr wrap="square" anchor="ctr" lIns="0" rIns="0" tIns="0" bIns="0">
            <a:spAutoFit/>
          </a:bodyPr>
          <a:lstStyle/>
          <a:p>
            <a:pPr algn="ctr"/>
            <a:r>
              <a:rPr sz="1500" b="1">
                <a:solidFill>
                  <a:srgbClr val="9A9A93"/>
                </a:solidFill>
                <a:latin typeface="Segoe UI"/>
              </a:rPr>
              <a:t>→</a:t>
            </a:r>
          </a:p>
        </p:txBody>
      </p:sp>
      <p:sp>
        <p:nvSpPr>
          <p:cNvPr id="8" name="Rectangle 7"/>
          <p:cNvSpPr/>
          <p:nvPr/>
        </p:nvSpPr>
        <p:spPr>
          <a:xfrm>
            <a:off x="2852927" y="1920240"/>
            <a:ext cx="1965960" cy="475488"/>
          </a:xfrm>
          <a:prstGeom prst="rect">
            <a:avLst/>
          </a:prstGeom>
          <a:solidFill>
            <a:srgbClr val="8FA8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52927" y="1920240"/>
            <a:ext cx="1965960" cy="475488"/>
          </a:xfrm>
          <a:prstGeom prst="rect">
            <a:avLst/>
          </a:prstGeom>
          <a:noFill/>
        </p:spPr>
        <p:txBody>
          <a:bodyPr wrap="square" anchor="ctr" lIns="0" rIns="0" tIns="0" bIns="0">
            <a:spAutoFit/>
          </a:bodyPr>
          <a:lstStyle/>
          <a:p>
            <a:pPr algn="ctr"/>
            <a:r>
              <a:rPr sz="1150" b="1">
                <a:solidFill>
                  <a:srgbClr val="FFFFFF"/>
                </a:solidFill>
                <a:latin typeface="Consolas"/>
              </a:rPr>
              <a:t>GitHub API</a:t>
            </a:r>
          </a:p>
        </p:txBody>
      </p:sp>
      <p:sp>
        <p:nvSpPr>
          <p:cNvPr id="10" name="TextBox 9"/>
          <p:cNvSpPr txBox="1"/>
          <p:nvPr/>
        </p:nvSpPr>
        <p:spPr>
          <a:xfrm>
            <a:off x="2852927" y="2560320"/>
            <a:ext cx="1965960" cy="1737360"/>
          </a:xfrm>
          <a:prstGeom prst="rect">
            <a:avLst/>
          </a:prstGeom>
          <a:noFill/>
        </p:spPr>
        <p:txBody>
          <a:bodyPr wrap="square" anchor="t" lIns="0" rIns="0" tIns="0" bIns="0">
            <a:spAutoFit/>
          </a:bodyPr>
          <a:lstStyle/>
          <a:p>
            <a:pPr algn="l">
              <a:lnSpc>
                <a:spcPct val="125000"/>
              </a:lnSpc>
            </a:pPr>
            <a:r>
              <a:rPr sz="1100" b="0">
                <a:solidFill>
                  <a:srgbClr val="66665F"/>
                </a:solidFill>
                <a:latin typeface="Segoe UI"/>
              </a:rPr>
              <a:t>Read-only. Commits and merged PRs, plus the review trail attached to them.</a:t>
            </a:r>
          </a:p>
        </p:txBody>
      </p:sp>
      <p:sp>
        <p:nvSpPr>
          <p:cNvPr id="11" name="TextBox 10"/>
          <p:cNvSpPr txBox="1"/>
          <p:nvPr/>
        </p:nvSpPr>
        <p:spPr>
          <a:xfrm>
            <a:off x="4818888" y="1920240"/>
            <a:ext cx="292608" cy="475488"/>
          </a:xfrm>
          <a:prstGeom prst="rect">
            <a:avLst/>
          </a:prstGeom>
          <a:noFill/>
        </p:spPr>
        <p:txBody>
          <a:bodyPr wrap="square" anchor="ctr" lIns="0" rIns="0" tIns="0" bIns="0">
            <a:spAutoFit/>
          </a:bodyPr>
          <a:lstStyle/>
          <a:p>
            <a:pPr algn="ctr"/>
            <a:r>
              <a:rPr sz="1500" b="1">
                <a:solidFill>
                  <a:srgbClr val="9A9A93"/>
                </a:solidFill>
                <a:latin typeface="Segoe UI"/>
              </a:rPr>
              <a:t>→</a:t>
            </a:r>
          </a:p>
        </p:txBody>
      </p:sp>
      <p:sp>
        <p:nvSpPr>
          <p:cNvPr id="12" name="Rectangle 11"/>
          <p:cNvSpPr/>
          <p:nvPr/>
        </p:nvSpPr>
        <p:spPr>
          <a:xfrm>
            <a:off x="5111496" y="1920240"/>
            <a:ext cx="1965960" cy="475488"/>
          </a:xfrm>
          <a:prstGeom prst="rect">
            <a:avLst/>
          </a:prstGeom>
          <a:solidFill>
            <a:srgbClr val="5F8C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11496" y="1920240"/>
            <a:ext cx="1965960" cy="475488"/>
          </a:xfrm>
          <a:prstGeom prst="rect">
            <a:avLst/>
          </a:prstGeom>
          <a:noFill/>
        </p:spPr>
        <p:txBody>
          <a:bodyPr wrap="square" anchor="ctr" lIns="0" rIns="0" tIns="0" bIns="0">
            <a:spAutoFit/>
          </a:bodyPr>
          <a:lstStyle/>
          <a:p>
            <a:pPr algn="ctr"/>
            <a:r>
              <a:rPr sz="1150" b="1">
                <a:solidFill>
                  <a:srgbClr val="FFFFFF"/>
                </a:solidFill>
                <a:latin typeface="Consolas"/>
              </a:rPr>
              <a:t>Classify</a:t>
            </a:r>
          </a:p>
        </p:txBody>
      </p:sp>
      <p:sp>
        <p:nvSpPr>
          <p:cNvPr id="14" name="TextBox 13"/>
          <p:cNvSpPr txBox="1"/>
          <p:nvPr/>
        </p:nvSpPr>
        <p:spPr>
          <a:xfrm>
            <a:off x="5111496" y="2560320"/>
            <a:ext cx="1965960" cy="1737360"/>
          </a:xfrm>
          <a:prstGeom prst="rect">
            <a:avLst/>
          </a:prstGeom>
          <a:noFill/>
        </p:spPr>
        <p:txBody>
          <a:bodyPr wrap="square" anchor="t" lIns="0" rIns="0" tIns="0" bIns="0">
            <a:spAutoFit/>
          </a:bodyPr>
          <a:lstStyle/>
          <a:p>
            <a:pPr algn="l">
              <a:lnSpc>
                <a:spcPct val="125000"/>
              </a:lnSpc>
            </a:pPr>
            <a:r>
              <a:rPr sz="1100" b="0">
                <a:solidFill>
                  <a:srgbClr val="66665F"/>
                </a:solidFill>
                <a:latin typeface="Segoe UI"/>
              </a:rPr>
              <a:t>Each task scored L1–L5 on an evidence ladder: PR label, then commit trailer, then known agent account, then behaviour, then writing style, then repo prior. First match wins.</a:t>
            </a:r>
          </a:p>
        </p:txBody>
      </p:sp>
      <p:sp>
        <p:nvSpPr>
          <p:cNvPr id="15" name="TextBox 14"/>
          <p:cNvSpPr txBox="1"/>
          <p:nvPr/>
        </p:nvSpPr>
        <p:spPr>
          <a:xfrm>
            <a:off x="7077456" y="1920240"/>
            <a:ext cx="292608" cy="475488"/>
          </a:xfrm>
          <a:prstGeom prst="rect">
            <a:avLst/>
          </a:prstGeom>
          <a:noFill/>
        </p:spPr>
        <p:txBody>
          <a:bodyPr wrap="square" anchor="ctr" lIns="0" rIns="0" tIns="0" bIns="0">
            <a:spAutoFit/>
          </a:bodyPr>
          <a:lstStyle/>
          <a:p>
            <a:pPr algn="ctr"/>
            <a:r>
              <a:rPr sz="1500" b="1">
                <a:solidFill>
                  <a:srgbClr val="9A9A93"/>
                </a:solidFill>
                <a:latin typeface="Segoe UI"/>
              </a:rPr>
              <a:t>→</a:t>
            </a:r>
          </a:p>
        </p:txBody>
      </p:sp>
      <p:sp>
        <p:nvSpPr>
          <p:cNvPr id="16" name="Rectangle 15"/>
          <p:cNvSpPr/>
          <p:nvPr/>
        </p:nvSpPr>
        <p:spPr>
          <a:xfrm>
            <a:off x="7370063" y="1920240"/>
            <a:ext cx="1965960" cy="475488"/>
          </a:xfrm>
          <a:prstGeom prst="rect">
            <a:avLst/>
          </a:prstGeom>
          <a:solidFill>
            <a:srgbClr val="3D67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70063" y="1920240"/>
            <a:ext cx="1965960" cy="475488"/>
          </a:xfrm>
          <a:prstGeom prst="rect">
            <a:avLst/>
          </a:prstGeom>
          <a:noFill/>
        </p:spPr>
        <p:txBody>
          <a:bodyPr wrap="square" anchor="ctr" lIns="0" rIns="0" tIns="0" bIns="0">
            <a:spAutoFit/>
          </a:bodyPr>
          <a:lstStyle/>
          <a:p>
            <a:pPr algn="ctr"/>
            <a:r>
              <a:rPr sz="1150" b="1">
                <a:solidFill>
                  <a:srgbClr val="FFFFFF"/>
                </a:solidFill>
                <a:latin typeface="Consolas"/>
              </a:rPr>
              <a:t>metrics.json</a:t>
            </a:r>
          </a:p>
        </p:txBody>
      </p:sp>
      <p:sp>
        <p:nvSpPr>
          <p:cNvPr id="18" name="TextBox 17"/>
          <p:cNvSpPr txBox="1"/>
          <p:nvPr/>
        </p:nvSpPr>
        <p:spPr>
          <a:xfrm>
            <a:off x="7370063" y="2560320"/>
            <a:ext cx="1965960" cy="1737360"/>
          </a:xfrm>
          <a:prstGeom prst="rect">
            <a:avLst/>
          </a:prstGeom>
          <a:noFill/>
        </p:spPr>
        <p:txBody>
          <a:bodyPr wrap="square" anchor="t" lIns="0" rIns="0" tIns="0" bIns="0">
            <a:spAutoFit/>
          </a:bodyPr>
          <a:lstStyle/>
          <a:p>
            <a:pPr algn="l">
              <a:lnSpc>
                <a:spcPct val="125000"/>
              </a:lnSpc>
            </a:pPr>
            <a:r>
              <a:rPr sz="1100" b="0">
                <a:solidFill>
                  <a:srgbClr val="66665F"/>
                </a:solidFill>
                <a:latin typeface="Segoe UI"/>
              </a:rPr>
              <a:t>Derived metrics — every formula published in the repo's metric dictionary. No black box.</a:t>
            </a:r>
          </a:p>
        </p:txBody>
      </p:sp>
      <p:sp>
        <p:nvSpPr>
          <p:cNvPr id="19" name="TextBox 18"/>
          <p:cNvSpPr txBox="1"/>
          <p:nvPr/>
        </p:nvSpPr>
        <p:spPr>
          <a:xfrm>
            <a:off x="9336024" y="1920240"/>
            <a:ext cx="292608" cy="475488"/>
          </a:xfrm>
          <a:prstGeom prst="rect">
            <a:avLst/>
          </a:prstGeom>
          <a:noFill/>
        </p:spPr>
        <p:txBody>
          <a:bodyPr wrap="square" anchor="ctr" lIns="0" rIns="0" tIns="0" bIns="0">
            <a:spAutoFit/>
          </a:bodyPr>
          <a:lstStyle/>
          <a:p>
            <a:pPr algn="ctr"/>
            <a:r>
              <a:rPr sz="1500" b="1">
                <a:solidFill>
                  <a:srgbClr val="9A9A93"/>
                </a:solidFill>
                <a:latin typeface="Segoe UI"/>
              </a:rPr>
              <a:t>→</a:t>
            </a:r>
          </a:p>
        </p:txBody>
      </p:sp>
      <p:sp>
        <p:nvSpPr>
          <p:cNvPr id="20" name="Rectangle 19"/>
          <p:cNvSpPr/>
          <p:nvPr/>
        </p:nvSpPr>
        <p:spPr>
          <a:xfrm>
            <a:off x="9628631" y="1920240"/>
            <a:ext cx="1965960" cy="475488"/>
          </a:xfrm>
          <a:prstGeom prst="rect">
            <a:avLst/>
          </a:prstGeom>
          <a:solidFill>
            <a:srgbClr val="244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28631" y="1920240"/>
            <a:ext cx="1965960" cy="475488"/>
          </a:xfrm>
          <a:prstGeom prst="rect">
            <a:avLst/>
          </a:prstGeom>
          <a:noFill/>
        </p:spPr>
        <p:txBody>
          <a:bodyPr wrap="square" anchor="ctr" lIns="0" rIns="0" tIns="0" bIns="0">
            <a:spAutoFit/>
          </a:bodyPr>
          <a:lstStyle/>
          <a:p>
            <a:pPr algn="ctr"/>
            <a:r>
              <a:rPr sz="1150" b="1">
                <a:solidFill>
                  <a:srgbClr val="FFFFFF"/>
                </a:solidFill>
                <a:latin typeface="Consolas"/>
              </a:rPr>
              <a:t>Dashboard</a:t>
            </a:r>
          </a:p>
        </p:txBody>
      </p:sp>
      <p:sp>
        <p:nvSpPr>
          <p:cNvPr id="22" name="TextBox 21"/>
          <p:cNvSpPr txBox="1"/>
          <p:nvPr/>
        </p:nvSpPr>
        <p:spPr>
          <a:xfrm>
            <a:off x="9628631" y="2560320"/>
            <a:ext cx="1965960" cy="1737360"/>
          </a:xfrm>
          <a:prstGeom prst="rect">
            <a:avLst/>
          </a:prstGeom>
          <a:noFill/>
        </p:spPr>
        <p:txBody>
          <a:bodyPr wrap="square" anchor="t" lIns="0" rIns="0" tIns="0" bIns="0">
            <a:spAutoFit/>
          </a:bodyPr>
          <a:lstStyle/>
          <a:p>
            <a:pPr algn="l">
              <a:lnSpc>
                <a:spcPct val="125000"/>
              </a:lnSpc>
            </a:pPr>
            <a:r>
              <a:rPr sz="1100" b="0">
                <a:solidFill>
                  <a:srgbClr val="66665F"/>
                </a:solidFill>
                <a:latin typeface="Segoe UI"/>
              </a:rPr>
              <a:t>Five tabs, filterable by repo, branch, member and time window. Runs daily, unattended.</a:t>
            </a:r>
          </a:p>
        </p:txBody>
      </p:sp>
      <p:sp>
        <p:nvSpPr>
          <p:cNvPr id="23" name="Rectangle 22"/>
          <p:cNvSpPr/>
          <p:nvPr/>
        </p:nvSpPr>
        <p:spPr>
          <a:xfrm>
            <a:off x="594360" y="4425696"/>
            <a:ext cx="11000232"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626864"/>
            <a:ext cx="5349240" cy="310896"/>
          </a:xfrm>
          <a:prstGeom prst="rect">
            <a:avLst/>
          </a:prstGeom>
          <a:noFill/>
        </p:spPr>
        <p:txBody>
          <a:bodyPr wrap="square" anchor="t" lIns="0" rIns="0" tIns="0" bIns="0">
            <a:spAutoFit/>
          </a:bodyPr>
          <a:lstStyle/>
          <a:p>
            <a:pPr algn="l"/>
            <a:r>
              <a:rPr sz="1600" b="1">
                <a:solidFill>
                  <a:srgbClr val="1F1F1C"/>
                </a:solidFill>
                <a:latin typeface="Segoe UI"/>
              </a:rPr>
              <a:t>It knows when it does not know</a:t>
            </a:r>
          </a:p>
        </p:txBody>
      </p:sp>
      <p:sp>
        <p:nvSpPr>
          <p:cNvPr id="25" name="TextBox 24"/>
          <p:cNvSpPr txBox="1"/>
          <p:nvPr/>
        </p:nvSpPr>
        <p:spPr>
          <a:xfrm>
            <a:off x="594360" y="4974336"/>
            <a:ext cx="5349240" cy="914400"/>
          </a:xfrm>
          <a:prstGeom prst="rect">
            <a:avLst/>
          </a:prstGeom>
          <a:noFill/>
        </p:spPr>
        <p:txBody>
          <a:bodyPr wrap="square" anchor="t" lIns="0" rIns="0" tIns="0" bIns="0">
            <a:spAutoFit/>
          </a:bodyPr>
          <a:lstStyle/>
          <a:p>
            <a:pPr algn="l">
              <a:lnSpc>
                <a:spcPct val="125000"/>
              </a:lnSpc>
            </a:pPr>
            <a:r>
              <a:rPr sz="1250" b="0">
                <a:solidFill>
                  <a:srgbClr val="66665F"/>
                </a:solidFill>
                <a:latin typeface="Segoe UI"/>
              </a:rPr>
              <a:t>A claim that conflicts with GitHub's own record — 'L5' but a human merged it, 'L4' but review sent it back — is flagged as suspect rather than silently rewritten. No evidence at all means 'unclassified', not a guess.</a:t>
            </a:r>
          </a:p>
        </p:txBody>
      </p:sp>
      <p:sp>
        <p:nvSpPr>
          <p:cNvPr id="26" name="TextBox 25"/>
          <p:cNvSpPr txBox="1"/>
          <p:nvPr/>
        </p:nvSpPr>
        <p:spPr>
          <a:xfrm>
            <a:off x="6199632" y="4626864"/>
            <a:ext cx="5394960" cy="310896"/>
          </a:xfrm>
          <a:prstGeom prst="rect">
            <a:avLst/>
          </a:prstGeom>
          <a:noFill/>
        </p:spPr>
        <p:txBody>
          <a:bodyPr wrap="square" anchor="t" lIns="0" rIns="0" tIns="0" bIns="0">
            <a:spAutoFit/>
          </a:bodyPr>
          <a:lstStyle/>
          <a:p>
            <a:pPr algn="l"/>
            <a:r>
              <a:rPr sz="1600" b="1">
                <a:solidFill>
                  <a:srgbClr val="1F1F1C"/>
                </a:solidFill>
                <a:latin typeface="Segoe UI"/>
              </a:rPr>
              <a:t>And it says so when the data is stale</a:t>
            </a:r>
          </a:p>
        </p:txBody>
      </p:sp>
      <p:sp>
        <p:nvSpPr>
          <p:cNvPr id="27" name="TextBox 26"/>
          <p:cNvSpPr txBox="1"/>
          <p:nvPr/>
        </p:nvSpPr>
        <p:spPr>
          <a:xfrm>
            <a:off x="6199632" y="4974336"/>
            <a:ext cx="5394960" cy="914400"/>
          </a:xfrm>
          <a:prstGeom prst="rect">
            <a:avLst/>
          </a:prstGeom>
          <a:noFill/>
        </p:spPr>
        <p:txBody>
          <a:bodyPr wrap="square" anchor="t" lIns="0" rIns="0" tIns="0" bIns="0">
            <a:spAutoFit/>
          </a:bodyPr>
          <a:lstStyle/>
          <a:p>
            <a:pPr algn="l">
              <a:lnSpc>
                <a:spcPct val="125000"/>
              </a:lnSpc>
            </a:pPr>
            <a:r>
              <a:rPr sz="1250" b="0">
                <a:solidFill>
                  <a:srgbClr val="66665F"/>
                </a:solidFill>
                <a:latin typeface="Segoe UI"/>
              </a:rPr>
              <a:t>Data older than 48 hours makes the delivery status read 'unknown' rather than green. A dashboard that only ever reports good news is one nobody can make a decision with.</a:t>
            </a:r>
          </a:p>
        </p:txBody>
      </p:sp>
      <p:sp>
        <p:nvSpPr>
          <p:cNvPr id="28" name="Rectangle 27"/>
          <p:cNvSpPr/>
          <p:nvPr/>
        </p:nvSpPr>
        <p:spPr>
          <a:xfrm>
            <a:off x="594360" y="5998464"/>
            <a:ext cx="11000232" cy="512064"/>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6108192"/>
            <a:ext cx="10424160" cy="329184"/>
          </a:xfrm>
          <a:prstGeom prst="rect">
            <a:avLst/>
          </a:prstGeom>
          <a:noFill/>
        </p:spPr>
        <p:txBody>
          <a:bodyPr wrap="square" anchor="t" lIns="0" rIns="0" tIns="0" bIns="0">
            <a:spAutoFit/>
          </a:bodyPr>
          <a:lstStyle/>
          <a:p>
            <a:pPr algn="l"/>
            <a:r>
              <a:rPr sz="1300" b="1">
                <a:solidFill>
                  <a:srgbClr val="1F1F1C"/>
                </a:solidFill>
                <a:latin typeface="Segoe UI"/>
              </a:rPr>
              <a:t>Zero new infrastructure · zero cost · no change to how anyone works — it only reads what GitHub already has.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The scale, borrowed from self-driving cars</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Every task — a merged PR or a direct commit — gets exactly one level</a:t>
            </a:r>
          </a:p>
        </p:txBody>
      </p:sp>
      <p:sp>
        <p:nvSpPr>
          <p:cNvPr id="4" name="Rectangle 3"/>
          <p:cNvSpPr/>
          <p:nvPr/>
        </p:nvSpPr>
        <p:spPr>
          <a:xfrm>
            <a:off x="594360" y="1920240"/>
            <a:ext cx="658368" cy="402336"/>
          </a:xfrm>
          <a:prstGeom prst="rect">
            <a:avLst/>
          </a:prstGeom>
          <a:solidFill>
            <a:srgbClr val="BFC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920240"/>
            <a:ext cx="658368" cy="402336"/>
          </a:xfrm>
          <a:prstGeom prst="rect">
            <a:avLst/>
          </a:prstGeom>
          <a:noFill/>
        </p:spPr>
        <p:txBody>
          <a:bodyPr wrap="square" anchor="ctr" lIns="0" rIns="0" tIns="0" bIns="0">
            <a:spAutoFit/>
          </a:bodyPr>
          <a:lstStyle/>
          <a:p>
            <a:pPr algn="ctr"/>
            <a:r>
              <a:rPr sz="1500" b="1">
                <a:solidFill>
                  <a:srgbClr val="FFFFFF"/>
                </a:solidFill>
                <a:latin typeface="Consolas"/>
              </a:rPr>
              <a:t>L1</a:t>
            </a:r>
          </a:p>
        </p:txBody>
      </p:sp>
      <p:sp>
        <p:nvSpPr>
          <p:cNvPr id="6" name="TextBox 5"/>
          <p:cNvSpPr txBox="1"/>
          <p:nvPr/>
        </p:nvSpPr>
        <p:spPr>
          <a:xfrm>
            <a:off x="1481328" y="1828800"/>
            <a:ext cx="1874519" cy="585216"/>
          </a:xfrm>
          <a:prstGeom prst="rect">
            <a:avLst/>
          </a:prstGeom>
          <a:noFill/>
        </p:spPr>
        <p:txBody>
          <a:bodyPr wrap="square" anchor="ctr" lIns="0" rIns="0" tIns="0" bIns="0">
            <a:spAutoFit/>
          </a:bodyPr>
          <a:lstStyle/>
          <a:p>
            <a:pPr algn="l"/>
            <a:r>
              <a:rPr sz="1700" b="1">
                <a:solidFill>
                  <a:srgbClr val="1F1F1C"/>
                </a:solidFill>
                <a:latin typeface="Segoe UI"/>
              </a:rPr>
              <a:t>Assisted</a:t>
            </a:r>
          </a:p>
        </p:txBody>
      </p:sp>
      <p:sp>
        <p:nvSpPr>
          <p:cNvPr id="7" name="TextBox 6"/>
          <p:cNvSpPr txBox="1"/>
          <p:nvPr/>
        </p:nvSpPr>
        <p:spPr>
          <a:xfrm>
            <a:off x="3246120" y="1828800"/>
            <a:ext cx="5394960" cy="585216"/>
          </a:xfrm>
          <a:prstGeom prst="rect">
            <a:avLst/>
          </a:prstGeom>
          <a:noFill/>
        </p:spPr>
        <p:txBody>
          <a:bodyPr wrap="square" anchor="ctr" lIns="0" rIns="0" tIns="0" bIns="0">
            <a:spAutoFit/>
          </a:bodyPr>
          <a:lstStyle/>
          <a:p>
            <a:pPr algn="l"/>
            <a:r>
              <a:rPr sz="1350" b="0">
                <a:solidFill>
                  <a:srgbClr val="66665F"/>
                </a:solidFill>
                <a:latin typeface="Segoe UI"/>
              </a:rPr>
              <a:t>Human-led. AI only completes and suggests.</a:t>
            </a:r>
          </a:p>
        </p:txBody>
      </p:sp>
      <p:sp>
        <p:nvSpPr>
          <p:cNvPr id="8" name="Rectangle 7"/>
          <p:cNvSpPr/>
          <p:nvPr/>
        </p:nvSpPr>
        <p:spPr>
          <a:xfrm>
            <a:off x="594360" y="2542032"/>
            <a:ext cx="804672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670048"/>
            <a:ext cx="658368" cy="402336"/>
          </a:xfrm>
          <a:prstGeom prst="rect">
            <a:avLst/>
          </a:prstGeom>
          <a:solidFill>
            <a:srgbClr val="8FA8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670048"/>
            <a:ext cx="658368" cy="402336"/>
          </a:xfrm>
          <a:prstGeom prst="rect">
            <a:avLst/>
          </a:prstGeom>
          <a:noFill/>
        </p:spPr>
        <p:txBody>
          <a:bodyPr wrap="square" anchor="ctr" lIns="0" rIns="0" tIns="0" bIns="0">
            <a:spAutoFit/>
          </a:bodyPr>
          <a:lstStyle/>
          <a:p>
            <a:pPr algn="ctr"/>
            <a:r>
              <a:rPr sz="1500" b="1">
                <a:solidFill>
                  <a:srgbClr val="FFFFFF"/>
                </a:solidFill>
                <a:latin typeface="Consolas"/>
              </a:rPr>
              <a:t>L2</a:t>
            </a:r>
          </a:p>
        </p:txBody>
      </p:sp>
      <p:sp>
        <p:nvSpPr>
          <p:cNvPr id="11" name="TextBox 10"/>
          <p:cNvSpPr txBox="1"/>
          <p:nvPr/>
        </p:nvSpPr>
        <p:spPr>
          <a:xfrm>
            <a:off x="1481328" y="2578608"/>
            <a:ext cx="1874519" cy="585216"/>
          </a:xfrm>
          <a:prstGeom prst="rect">
            <a:avLst/>
          </a:prstGeom>
          <a:noFill/>
        </p:spPr>
        <p:txBody>
          <a:bodyPr wrap="square" anchor="ctr" lIns="0" rIns="0" tIns="0" bIns="0">
            <a:spAutoFit/>
          </a:bodyPr>
          <a:lstStyle/>
          <a:p>
            <a:pPr algn="l"/>
            <a:r>
              <a:rPr sz="1700" b="1">
                <a:solidFill>
                  <a:srgbClr val="1F1F1C"/>
                </a:solidFill>
                <a:latin typeface="Segoe UI"/>
              </a:rPr>
              <a:t>Partial</a:t>
            </a:r>
          </a:p>
        </p:txBody>
      </p:sp>
      <p:sp>
        <p:nvSpPr>
          <p:cNvPr id="12" name="TextBox 11"/>
          <p:cNvSpPr txBox="1"/>
          <p:nvPr/>
        </p:nvSpPr>
        <p:spPr>
          <a:xfrm>
            <a:off x="3246120" y="2578608"/>
            <a:ext cx="5394960" cy="585216"/>
          </a:xfrm>
          <a:prstGeom prst="rect">
            <a:avLst/>
          </a:prstGeom>
          <a:noFill/>
        </p:spPr>
        <p:txBody>
          <a:bodyPr wrap="square" anchor="ctr" lIns="0" rIns="0" tIns="0" bIns="0">
            <a:spAutoFit/>
          </a:bodyPr>
          <a:lstStyle/>
          <a:p>
            <a:pPr algn="l"/>
            <a:r>
              <a:rPr sz="1350" b="0">
                <a:solidFill>
                  <a:srgbClr val="66665F"/>
                </a:solidFill>
                <a:latin typeface="Segoe UI"/>
              </a:rPr>
              <a:t>AI writes section by section; a human reviews each one before commit.</a:t>
            </a:r>
          </a:p>
        </p:txBody>
      </p:sp>
      <p:sp>
        <p:nvSpPr>
          <p:cNvPr id="13" name="Rectangle 12"/>
          <p:cNvSpPr/>
          <p:nvPr/>
        </p:nvSpPr>
        <p:spPr>
          <a:xfrm>
            <a:off x="594360" y="3291839"/>
            <a:ext cx="804672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419856"/>
            <a:ext cx="658368" cy="402336"/>
          </a:xfrm>
          <a:prstGeom prst="rect">
            <a:avLst/>
          </a:prstGeom>
          <a:solidFill>
            <a:srgbClr val="5F8C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419856"/>
            <a:ext cx="658368" cy="402336"/>
          </a:xfrm>
          <a:prstGeom prst="rect">
            <a:avLst/>
          </a:prstGeom>
          <a:noFill/>
        </p:spPr>
        <p:txBody>
          <a:bodyPr wrap="square" anchor="ctr" lIns="0" rIns="0" tIns="0" bIns="0">
            <a:spAutoFit/>
          </a:bodyPr>
          <a:lstStyle/>
          <a:p>
            <a:pPr algn="ctr"/>
            <a:r>
              <a:rPr sz="1500" b="1">
                <a:solidFill>
                  <a:srgbClr val="FFFFFF"/>
                </a:solidFill>
                <a:latin typeface="Consolas"/>
              </a:rPr>
              <a:t>L3</a:t>
            </a:r>
          </a:p>
        </p:txBody>
      </p:sp>
      <p:sp>
        <p:nvSpPr>
          <p:cNvPr id="16" name="TextBox 15"/>
          <p:cNvSpPr txBox="1"/>
          <p:nvPr/>
        </p:nvSpPr>
        <p:spPr>
          <a:xfrm>
            <a:off x="1481328" y="3328415"/>
            <a:ext cx="1874519" cy="585216"/>
          </a:xfrm>
          <a:prstGeom prst="rect">
            <a:avLst/>
          </a:prstGeom>
          <a:noFill/>
        </p:spPr>
        <p:txBody>
          <a:bodyPr wrap="square" anchor="ctr" lIns="0" rIns="0" tIns="0" bIns="0">
            <a:spAutoFit/>
          </a:bodyPr>
          <a:lstStyle/>
          <a:p>
            <a:pPr algn="l"/>
            <a:r>
              <a:rPr sz="1700" b="1">
                <a:solidFill>
                  <a:srgbClr val="1F1F1C"/>
                </a:solidFill>
                <a:latin typeface="Segoe UI"/>
              </a:rPr>
              <a:t>Conditional</a:t>
            </a:r>
          </a:p>
        </p:txBody>
      </p:sp>
      <p:sp>
        <p:nvSpPr>
          <p:cNvPr id="17" name="TextBox 16"/>
          <p:cNvSpPr txBox="1"/>
          <p:nvPr/>
        </p:nvSpPr>
        <p:spPr>
          <a:xfrm>
            <a:off x="3246120" y="3328415"/>
            <a:ext cx="5394960" cy="585216"/>
          </a:xfrm>
          <a:prstGeom prst="rect">
            <a:avLst/>
          </a:prstGeom>
          <a:noFill/>
        </p:spPr>
        <p:txBody>
          <a:bodyPr wrap="square" anchor="ctr" lIns="0" rIns="0" tIns="0" bIns="0">
            <a:spAutoFit/>
          </a:bodyPr>
          <a:lstStyle/>
          <a:p>
            <a:pPr algn="l"/>
            <a:r>
              <a:rPr sz="1350" b="0">
                <a:solidFill>
                  <a:srgbClr val="66665F"/>
                </a:solidFill>
                <a:latin typeface="Segoe UI"/>
              </a:rPr>
              <a:t>The agent drives the whole task; a human holds the key checkpoints.</a:t>
            </a:r>
          </a:p>
        </p:txBody>
      </p:sp>
      <p:sp>
        <p:nvSpPr>
          <p:cNvPr id="18" name="Rectangle 17"/>
          <p:cNvSpPr/>
          <p:nvPr/>
        </p:nvSpPr>
        <p:spPr>
          <a:xfrm>
            <a:off x="594360" y="4041648"/>
            <a:ext cx="804672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4169663"/>
            <a:ext cx="658368" cy="402336"/>
          </a:xfrm>
          <a:prstGeom prst="rect">
            <a:avLst/>
          </a:prstGeom>
          <a:solidFill>
            <a:srgbClr val="3D67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169663"/>
            <a:ext cx="658368" cy="402336"/>
          </a:xfrm>
          <a:prstGeom prst="rect">
            <a:avLst/>
          </a:prstGeom>
          <a:noFill/>
        </p:spPr>
        <p:txBody>
          <a:bodyPr wrap="square" anchor="ctr" lIns="0" rIns="0" tIns="0" bIns="0">
            <a:spAutoFit/>
          </a:bodyPr>
          <a:lstStyle/>
          <a:p>
            <a:pPr algn="ctr"/>
            <a:r>
              <a:rPr sz="1500" b="1">
                <a:solidFill>
                  <a:srgbClr val="FFFFFF"/>
                </a:solidFill>
                <a:latin typeface="Consolas"/>
              </a:rPr>
              <a:t>L4</a:t>
            </a:r>
          </a:p>
        </p:txBody>
      </p:sp>
      <p:sp>
        <p:nvSpPr>
          <p:cNvPr id="21" name="TextBox 20"/>
          <p:cNvSpPr txBox="1"/>
          <p:nvPr/>
        </p:nvSpPr>
        <p:spPr>
          <a:xfrm>
            <a:off x="1481328" y="4078224"/>
            <a:ext cx="1874519" cy="585216"/>
          </a:xfrm>
          <a:prstGeom prst="rect">
            <a:avLst/>
          </a:prstGeom>
          <a:noFill/>
        </p:spPr>
        <p:txBody>
          <a:bodyPr wrap="square" anchor="ctr" lIns="0" rIns="0" tIns="0" bIns="0">
            <a:spAutoFit/>
          </a:bodyPr>
          <a:lstStyle/>
          <a:p>
            <a:pPr algn="l"/>
            <a:r>
              <a:rPr sz="1700" b="1">
                <a:solidFill>
                  <a:srgbClr val="1F1F1C"/>
                </a:solidFill>
                <a:latin typeface="Segoe UI"/>
              </a:rPr>
              <a:t>High</a:t>
            </a:r>
          </a:p>
        </p:txBody>
      </p:sp>
      <p:sp>
        <p:nvSpPr>
          <p:cNvPr id="22" name="TextBox 21"/>
          <p:cNvSpPr txBox="1"/>
          <p:nvPr/>
        </p:nvSpPr>
        <p:spPr>
          <a:xfrm>
            <a:off x="3246120" y="4078224"/>
            <a:ext cx="5394960" cy="585216"/>
          </a:xfrm>
          <a:prstGeom prst="rect">
            <a:avLst/>
          </a:prstGeom>
          <a:noFill/>
        </p:spPr>
        <p:txBody>
          <a:bodyPr wrap="square" anchor="ctr" lIns="0" rIns="0" tIns="0" bIns="0">
            <a:spAutoFit/>
          </a:bodyPr>
          <a:lstStyle/>
          <a:p>
            <a:pPr algn="l"/>
            <a:r>
              <a:rPr sz="1350" b="0">
                <a:solidFill>
                  <a:srgbClr val="66665F"/>
                </a:solidFill>
                <a:latin typeface="Segoe UI"/>
              </a:rPr>
              <a:t>AI completes it end to end; the human reviews and approves.</a:t>
            </a:r>
          </a:p>
        </p:txBody>
      </p:sp>
      <p:sp>
        <p:nvSpPr>
          <p:cNvPr id="23" name="Rectangle 22"/>
          <p:cNvSpPr/>
          <p:nvPr/>
        </p:nvSpPr>
        <p:spPr>
          <a:xfrm>
            <a:off x="594360" y="4791456"/>
            <a:ext cx="804672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 y="4919472"/>
            <a:ext cx="658368" cy="402336"/>
          </a:xfrm>
          <a:prstGeom prst="rect">
            <a:avLst/>
          </a:prstGeom>
          <a:solidFill>
            <a:srgbClr val="244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919472"/>
            <a:ext cx="658368" cy="402336"/>
          </a:xfrm>
          <a:prstGeom prst="rect">
            <a:avLst/>
          </a:prstGeom>
          <a:noFill/>
        </p:spPr>
        <p:txBody>
          <a:bodyPr wrap="square" anchor="ctr" lIns="0" rIns="0" tIns="0" bIns="0">
            <a:spAutoFit/>
          </a:bodyPr>
          <a:lstStyle/>
          <a:p>
            <a:pPr algn="ctr"/>
            <a:r>
              <a:rPr sz="1500" b="1">
                <a:solidFill>
                  <a:srgbClr val="FFFFFF"/>
                </a:solidFill>
                <a:latin typeface="Consolas"/>
              </a:rPr>
              <a:t>L5</a:t>
            </a:r>
          </a:p>
        </p:txBody>
      </p:sp>
      <p:sp>
        <p:nvSpPr>
          <p:cNvPr id="26" name="TextBox 25"/>
          <p:cNvSpPr txBox="1"/>
          <p:nvPr/>
        </p:nvSpPr>
        <p:spPr>
          <a:xfrm>
            <a:off x="1481328" y="4828032"/>
            <a:ext cx="1874519" cy="585216"/>
          </a:xfrm>
          <a:prstGeom prst="rect">
            <a:avLst/>
          </a:prstGeom>
          <a:noFill/>
        </p:spPr>
        <p:txBody>
          <a:bodyPr wrap="square" anchor="ctr" lIns="0" rIns="0" tIns="0" bIns="0">
            <a:spAutoFit/>
          </a:bodyPr>
          <a:lstStyle/>
          <a:p>
            <a:pPr algn="l"/>
            <a:r>
              <a:rPr sz="1700" b="1">
                <a:solidFill>
                  <a:srgbClr val="1F1F1C"/>
                </a:solidFill>
                <a:latin typeface="Segoe UI"/>
              </a:rPr>
              <a:t>Full</a:t>
            </a:r>
          </a:p>
        </p:txBody>
      </p:sp>
      <p:sp>
        <p:nvSpPr>
          <p:cNvPr id="27" name="TextBox 26"/>
          <p:cNvSpPr txBox="1"/>
          <p:nvPr/>
        </p:nvSpPr>
        <p:spPr>
          <a:xfrm>
            <a:off x="3246120" y="4828032"/>
            <a:ext cx="5394960" cy="585216"/>
          </a:xfrm>
          <a:prstGeom prst="rect">
            <a:avLst/>
          </a:prstGeom>
          <a:noFill/>
        </p:spPr>
        <p:txBody>
          <a:bodyPr wrap="square" anchor="ctr" lIns="0" rIns="0" tIns="0" bIns="0">
            <a:spAutoFit/>
          </a:bodyPr>
          <a:lstStyle/>
          <a:p>
            <a:pPr algn="l"/>
            <a:r>
              <a:rPr sz="1350" b="0">
                <a:solidFill>
                  <a:srgbClr val="66665F"/>
                </a:solidFill>
                <a:latin typeface="Segoe UI"/>
              </a:rPr>
              <a:t>A bot opens the PR and it merges itself. No human in the loop.</a:t>
            </a:r>
          </a:p>
        </p:txBody>
      </p:sp>
      <p:sp>
        <p:nvSpPr>
          <p:cNvPr id="28" name="Rectangle 27"/>
          <p:cNvSpPr/>
          <p:nvPr/>
        </p:nvSpPr>
        <p:spPr>
          <a:xfrm>
            <a:off x="9006840" y="1920240"/>
            <a:ext cx="2606040" cy="3291840"/>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2240280"/>
            <a:ext cx="2103120" cy="365760"/>
          </a:xfrm>
          <a:prstGeom prst="rect">
            <a:avLst/>
          </a:prstGeom>
          <a:noFill/>
        </p:spPr>
        <p:txBody>
          <a:bodyPr wrap="square" anchor="t" lIns="0" rIns="0" tIns="0" bIns="0">
            <a:spAutoFit/>
          </a:bodyPr>
          <a:lstStyle/>
          <a:p>
            <a:pPr algn="l"/>
            <a:r>
              <a:rPr sz="1300" b="0">
                <a:solidFill>
                  <a:srgbClr val="CADCFC"/>
                </a:solidFill>
                <a:latin typeface="Consolas"/>
              </a:rPr>
              <a:t>NORTH STAR</a:t>
            </a:r>
          </a:p>
        </p:txBody>
      </p:sp>
      <p:sp>
        <p:nvSpPr>
          <p:cNvPr id="30" name="TextBox 29"/>
          <p:cNvSpPr txBox="1"/>
          <p:nvPr/>
        </p:nvSpPr>
        <p:spPr>
          <a:xfrm>
            <a:off x="9281160" y="2651760"/>
            <a:ext cx="2148840" cy="502920"/>
          </a:xfrm>
          <a:prstGeom prst="rect">
            <a:avLst/>
          </a:prstGeom>
          <a:noFill/>
        </p:spPr>
        <p:txBody>
          <a:bodyPr wrap="square" anchor="t" lIns="0" rIns="0" tIns="0" bIns="0">
            <a:spAutoFit/>
          </a:bodyPr>
          <a:lstStyle/>
          <a:p>
            <a:pPr algn="l"/>
            <a:r>
              <a:rPr sz="2400" b="1">
                <a:solidFill>
                  <a:srgbClr val="FFFFFF"/>
                </a:solidFill>
                <a:latin typeface="Segoe UI"/>
              </a:rPr>
              <a:t>L3+ share</a:t>
            </a:r>
          </a:p>
        </p:txBody>
      </p:sp>
      <p:sp>
        <p:nvSpPr>
          <p:cNvPr id="31" name="TextBox 30"/>
          <p:cNvSpPr txBox="1"/>
          <p:nvPr/>
        </p:nvSpPr>
        <p:spPr>
          <a:xfrm>
            <a:off x="9281160" y="3246120"/>
            <a:ext cx="2148840" cy="1737360"/>
          </a:xfrm>
          <a:prstGeom prst="rect">
            <a:avLst/>
          </a:prstGeom>
          <a:noFill/>
        </p:spPr>
        <p:txBody>
          <a:bodyPr wrap="square" anchor="t" lIns="0" rIns="0" tIns="0" bIns="0">
            <a:spAutoFit/>
          </a:bodyPr>
          <a:lstStyle/>
          <a:p>
            <a:pPr algn="l">
              <a:lnSpc>
                <a:spcPct val="128000"/>
              </a:lnSpc>
            </a:pPr>
            <a:r>
              <a:rPr sz="1150" b="0">
                <a:solidFill>
                  <a:srgbClr val="CADCFC"/>
                </a:solidFill>
                <a:latin typeface="Segoe UI"/>
              </a:rPr>
              <a:t>The share of tasks an agent drove to completion — the line between 'a human works, AI helps' and 'AI works, a human holds the keys'.</a:t>
            </a:r>
          </a:p>
        </p:txBody>
      </p:sp>
      <p:sp>
        <p:nvSpPr>
          <p:cNvPr id="32" name="TextBox 31"/>
          <p:cNvSpPr txBox="1"/>
          <p:nvPr/>
        </p:nvSpPr>
        <p:spPr>
          <a:xfrm>
            <a:off x="594360" y="5559552"/>
            <a:ext cx="11000232" cy="365760"/>
          </a:xfrm>
          <a:prstGeom prst="rect">
            <a:avLst/>
          </a:prstGeom>
          <a:noFill/>
        </p:spPr>
        <p:txBody>
          <a:bodyPr wrap="square" anchor="t" lIns="0" rIns="0" tIns="0" bIns="0">
            <a:spAutoFit/>
          </a:bodyPr>
          <a:lstStyle/>
          <a:p>
            <a:pPr algn="l"/>
            <a:r>
              <a:rPr sz="1300" b="1">
                <a:solidFill>
                  <a:srgbClr val="1F1F1C"/>
                </a:solidFill>
                <a:latin typeface="Segoe UI"/>
              </a:rPr>
              <a:t>Our own workflow — plan, approval checkpoint, tests first — is textbook L3. That is deliberate, not a ceiling we failed to clear.</a:t>
            </a:r>
          </a:p>
        </p:txBody>
      </p:sp>
      <p:sp>
        <p:nvSpPr>
          <p:cNvPr id="33" name="TextBox 32"/>
          <p:cNvSpPr txBox="1"/>
          <p:nvPr/>
        </p:nvSpPr>
        <p:spPr>
          <a:xfrm>
            <a:off x="594360" y="5961888"/>
            <a:ext cx="11000232" cy="457200"/>
          </a:xfrm>
          <a:prstGeom prst="rect">
            <a:avLst/>
          </a:prstGeom>
          <a:noFill/>
        </p:spPr>
        <p:txBody>
          <a:bodyPr wrap="square" anchor="t" lIns="0" rIns="0" tIns="0" bIns="0">
            <a:spAutoFit/>
          </a:bodyPr>
          <a:lstStyle/>
          <a:p>
            <a:pPr algn="l">
              <a:lnSpc>
                <a:spcPct val="120000"/>
              </a:lnSpc>
            </a:pPr>
            <a:r>
              <a:rPr sz="1200" b="0">
                <a:solidFill>
                  <a:srgbClr val="9A9A93"/>
                </a:solidFill>
                <a:latin typeface="Segoe UI"/>
              </a:rPr>
              <a:t>The classification rate is reported next to every number: below 80% coverage the dashboard warns that the percentages sit on a thin base.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What a manager actually opens</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Five tabs. Filters and the tab bar stay pinned, so the controls never scroll away.</a:t>
            </a:r>
          </a:p>
        </p:txBody>
      </p:sp>
      <p:sp>
        <p:nvSpPr>
          <p:cNvPr id="4" name="Rectangle 3"/>
          <p:cNvSpPr/>
          <p:nvPr/>
        </p:nvSpPr>
        <p:spPr>
          <a:xfrm>
            <a:off x="594360" y="1901952"/>
            <a:ext cx="402336" cy="347472"/>
          </a:xfrm>
          <a:prstGeom prst="rect">
            <a:avLst/>
          </a:prstGeom>
          <a:solidFill>
            <a:srgbClr val="BFC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901952"/>
            <a:ext cx="402336" cy="347472"/>
          </a:xfrm>
          <a:prstGeom prst="rect">
            <a:avLst/>
          </a:prstGeom>
          <a:noFill/>
        </p:spPr>
        <p:txBody>
          <a:bodyPr wrap="square" anchor="ctr" lIns="0" rIns="0" tIns="0" bIns="0">
            <a:spAutoFit/>
          </a:bodyPr>
          <a:lstStyle/>
          <a:p>
            <a:pPr algn="ctr"/>
            <a:r>
              <a:rPr sz="1300" b="1">
                <a:solidFill>
                  <a:srgbClr val="FFFFFF"/>
                </a:solidFill>
                <a:latin typeface="Segoe UI"/>
              </a:rPr>
              <a:t>1</a:t>
            </a:r>
          </a:p>
        </p:txBody>
      </p:sp>
      <p:sp>
        <p:nvSpPr>
          <p:cNvPr id="6" name="TextBox 5"/>
          <p:cNvSpPr txBox="1"/>
          <p:nvPr/>
        </p:nvSpPr>
        <p:spPr>
          <a:xfrm>
            <a:off x="1179576" y="1865376"/>
            <a:ext cx="2514600" cy="310896"/>
          </a:xfrm>
          <a:prstGeom prst="rect">
            <a:avLst/>
          </a:prstGeom>
          <a:noFill/>
        </p:spPr>
        <p:txBody>
          <a:bodyPr wrap="square" anchor="t" lIns="0" rIns="0" tIns="0" bIns="0">
            <a:spAutoFit/>
          </a:bodyPr>
          <a:lstStyle/>
          <a:p>
            <a:pPr algn="l"/>
            <a:r>
              <a:rPr sz="1500" b="1">
                <a:solidFill>
                  <a:srgbClr val="1F1F1C"/>
                </a:solidFill>
                <a:latin typeface="Segoe UI"/>
              </a:rPr>
              <a:t>Overview</a:t>
            </a:r>
          </a:p>
        </p:txBody>
      </p:sp>
      <p:sp>
        <p:nvSpPr>
          <p:cNvPr id="7" name="TextBox 6"/>
          <p:cNvSpPr txBox="1"/>
          <p:nvPr/>
        </p:nvSpPr>
        <p:spPr>
          <a:xfrm>
            <a:off x="3794760" y="1883664"/>
            <a:ext cx="4069080" cy="658368"/>
          </a:xfrm>
          <a:prstGeom prst="rect">
            <a:avLst/>
          </a:prstGeom>
          <a:noFill/>
        </p:spPr>
        <p:txBody>
          <a:bodyPr wrap="square" anchor="t" lIns="0" rIns="0" tIns="0" bIns="0">
            <a:spAutoFit/>
          </a:bodyPr>
          <a:lstStyle/>
          <a:p>
            <a:pPr algn="l">
              <a:lnSpc>
                <a:spcPct val="120000"/>
              </a:lnSpc>
            </a:pPr>
            <a:r>
              <a:rPr sz="1150" b="0">
                <a:solidFill>
                  <a:srgbClr val="66665F"/>
                </a:solidFill>
                <a:latin typeface="Segoe UI"/>
              </a:rPr>
              <a:t>Delivery status, data health, scope and forecast · executive attention · headline KPIs · DORA · weekly trend</a:t>
            </a:r>
          </a:p>
        </p:txBody>
      </p:sp>
      <p:sp>
        <p:nvSpPr>
          <p:cNvPr id="8" name="Rectangle 7"/>
          <p:cNvSpPr/>
          <p:nvPr/>
        </p:nvSpPr>
        <p:spPr>
          <a:xfrm>
            <a:off x="594360" y="2542032"/>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670048"/>
            <a:ext cx="402336" cy="347472"/>
          </a:xfrm>
          <a:prstGeom prst="rect">
            <a:avLst/>
          </a:prstGeom>
          <a:solidFill>
            <a:srgbClr val="8FA8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670048"/>
            <a:ext cx="402336" cy="347472"/>
          </a:xfrm>
          <a:prstGeom prst="rect">
            <a:avLst/>
          </a:prstGeom>
          <a:noFill/>
        </p:spPr>
        <p:txBody>
          <a:bodyPr wrap="square" anchor="ctr" lIns="0" rIns="0" tIns="0" bIns="0">
            <a:spAutoFit/>
          </a:bodyPr>
          <a:lstStyle/>
          <a:p>
            <a:pPr algn="ctr"/>
            <a:r>
              <a:rPr sz="1300" b="1">
                <a:solidFill>
                  <a:srgbClr val="FFFFFF"/>
                </a:solidFill>
                <a:latin typeface="Segoe UI"/>
              </a:rPr>
              <a:t>2</a:t>
            </a:r>
          </a:p>
        </p:txBody>
      </p:sp>
      <p:sp>
        <p:nvSpPr>
          <p:cNvPr id="11" name="TextBox 10"/>
          <p:cNvSpPr txBox="1"/>
          <p:nvPr/>
        </p:nvSpPr>
        <p:spPr>
          <a:xfrm>
            <a:off x="1179576" y="2633472"/>
            <a:ext cx="2514600" cy="310896"/>
          </a:xfrm>
          <a:prstGeom prst="rect">
            <a:avLst/>
          </a:prstGeom>
          <a:noFill/>
        </p:spPr>
        <p:txBody>
          <a:bodyPr wrap="square" anchor="t" lIns="0" rIns="0" tIns="0" bIns="0">
            <a:spAutoFit/>
          </a:bodyPr>
          <a:lstStyle/>
          <a:p>
            <a:pPr algn="l"/>
            <a:r>
              <a:rPr sz="1500" b="1">
                <a:solidFill>
                  <a:srgbClr val="1F1F1C"/>
                </a:solidFill>
                <a:latin typeface="Segoe UI"/>
              </a:rPr>
              <a:t>Quality</a:t>
            </a:r>
          </a:p>
        </p:txBody>
      </p:sp>
      <p:sp>
        <p:nvSpPr>
          <p:cNvPr id="12" name="TextBox 11"/>
          <p:cNvSpPr txBox="1"/>
          <p:nvPr/>
        </p:nvSpPr>
        <p:spPr>
          <a:xfrm>
            <a:off x="3794760" y="2651760"/>
            <a:ext cx="4069080" cy="658368"/>
          </a:xfrm>
          <a:prstGeom prst="rect">
            <a:avLst/>
          </a:prstGeom>
          <a:noFill/>
        </p:spPr>
        <p:txBody>
          <a:bodyPr wrap="square" anchor="t" lIns="0" rIns="0" tIns="0" bIns="0">
            <a:spAutoFit/>
          </a:bodyPr>
          <a:lstStyle/>
          <a:p>
            <a:pPr algn="l">
              <a:lnSpc>
                <a:spcPct val="120000"/>
              </a:lnSpc>
            </a:pPr>
            <a:r>
              <a:rPr sz="1150" b="0">
                <a:solidFill>
                  <a:srgbClr val="66665F"/>
                </a:solidFill>
                <a:latin typeface="Segoe UI"/>
              </a:rPr>
              <a:t>RAG status · quality against autonomy level · rework share per level · defect tracking</a:t>
            </a:r>
          </a:p>
        </p:txBody>
      </p:sp>
      <p:sp>
        <p:nvSpPr>
          <p:cNvPr id="13" name="Rectangle 12"/>
          <p:cNvSpPr/>
          <p:nvPr/>
        </p:nvSpPr>
        <p:spPr>
          <a:xfrm>
            <a:off x="594360" y="3310127"/>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3438144"/>
            <a:ext cx="402336" cy="347472"/>
          </a:xfrm>
          <a:prstGeom prst="rect">
            <a:avLst/>
          </a:prstGeom>
          <a:solidFill>
            <a:srgbClr val="5F8C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438144"/>
            <a:ext cx="402336" cy="347472"/>
          </a:xfrm>
          <a:prstGeom prst="rect">
            <a:avLst/>
          </a:prstGeom>
          <a:noFill/>
        </p:spPr>
        <p:txBody>
          <a:bodyPr wrap="square" anchor="ctr" lIns="0" rIns="0" tIns="0" bIns="0">
            <a:spAutoFit/>
          </a:bodyPr>
          <a:lstStyle/>
          <a:p>
            <a:pPr algn="ctr"/>
            <a:r>
              <a:rPr sz="1300" b="1">
                <a:solidFill>
                  <a:srgbClr val="FFFFFF"/>
                </a:solidFill>
                <a:latin typeface="Segoe UI"/>
              </a:rPr>
              <a:t>3</a:t>
            </a:r>
          </a:p>
        </p:txBody>
      </p:sp>
      <p:sp>
        <p:nvSpPr>
          <p:cNvPr id="16" name="TextBox 15"/>
          <p:cNvSpPr txBox="1"/>
          <p:nvPr/>
        </p:nvSpPr>
        <p:spPr>
          <a:xfrm>
            <a:off x="1179576" y="3401568"/>
            <a:ext cx="2514600" cy="310896"/>
          </a:xfrm>
          <a:prstGeom prst="rect">
            <a:avLst/>
          </a:prstGeom>
          <a:noFill/>
        </p:spPr>
        <p:txBody>
          <a:bodyPr wrap="square" anchor="t" lIns="0" rIns="0" tIns="0" bIns="0">
            <a:spAutoFit/>
          </a:bodyPr>
          <a:lstStyle/>
          <a:p>
            <a:pPr algn="l"/>
            <a:r>
              <a:rPr sz="1500" b="1">
                <a:solidFill>
                  <a:srgbClr val="1F1F1C"/>
                </a:solidFill>
                <a:latin typeface="Segoe UI"/>
              </a:rPr>
              <a:t>Projects &amp; Team</a:t>
            </a:r>
          </a:p>
        </p:txBody>
      </p:sp>
      <p:sp>
        <p:nvSpPr>
          <p:cNvPr id="17" name="TextBox 16"/>
          <p:cNvSpPr txBox="1"/>
          <p:nvPr/>
        </p:nvSpPr>
        <p:spPr>
          <a:xfrm>
            <a:off x="3794760" y="3419856"/>
            <a:ext cx="4069080" cy="658368"/>
          </a:xfrm>
          <a:prstGeom prst="rect">
            <a:avLst/>
          </a:prstGeom>
          <a:noFill/>
        </p:spPr>
        <p:txBody>
          <a:bodyPr wrap="square" anchor="t" lIns="0" rIns="0" tIns="0" bIns="0">
            <a:spAutoFit/>
          </a:bodyPr>
          <a:lstStyle/>
          <a:p>
            <a:pPr algn="l">
              <a:lnSpc>
                <a:spcPct val="120000"/>
              </a:lnSpc>
            </a:pPr>
            <a:r>
              <a:rPr sz="1150" b="0">
                <a:solidFill>
                  <a:srgbClr val="66665F"/>
                </a:solidFill>
                <a:latin typeface="Segoe UI"/>
              </a:rPr>
              <a:t>Milestone progress · slippage detection · today's suggested actions · repo overview · contributors</a:t>
            </a:r>
          </a:p>
        </p:txBody>
      </p:sp>
      <p:sp>
        <p:nvSpPr>
          <p:cNvPr id="18" name="Rectangle 17"/>
          <p:cNvSpPr/>
          <p:nvPr/>
        </p:nvSpPr>
        <p:spPr>
          <a:xfrm>
            <a:off x="594360" y="4078224"/>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4206240"/>
            <a:ext cx="402336" cy="347472"/>
          </a:xfrm>
          <a:prstGeom prst="rect">
            <a:avLst/>
          </a:prstGeom>
          <a:solidFill>
            <a:srgbClr val="3D67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206240"/>
            <a:ext cx="402336" cy="347472"/>
          </a:xfrm>
          <a:prstGeom prst="rect">
            <a:avLst/>
          </a:prstGeom>
          <a:noFill/>
        </p:spPr>
        <p:txBody>
          <a:bodyPr wrap="square" anchor="ctr" lIns="0" rIns="0" tIns="0" bIns="0">
            <a:spAutoFit/>
          </a:bodyPr>
          <a:lstStyle/>
          <a:p>
            <a:pPr algn="ctr"/>
            <a:r>
              <a:rPr sz="1300" b="1">
                <a:solidFill>
                  <a:srgbClr val="FFFFFF"/>
                </a:solidFill>
                <a:latin typeface="Segoe UI"/>
              </a:rPr>
              <a:t>4</a:t>
            </a:r>
          </a:p>
        </p:txBody>
      </p:sp>
      <p:sp>
        <p:nvSpPr>
          <p:cNvPr id="21" name="TextBox 20"/>
          <p:cNvSpPr txBox="1"/>
          <p:nvPr/>
        </p:nvSpPr>
        <p:spPr>
          <a:xfrm>
            <a:off x="1179576" y="4169664"/>
            <a:ext cx="2514600" cy="310896"/>
          </a:xfrm>
          <a:prstGeom prst="rect">
            <a:avLst/>
          </a:prstGeom>
          <a:noFill/>
        </p:spPr>
        <p:txBody>
          <a:bodyPr wrap="square" anchor="t" lIns="0" rIns="0" tIns="0" bIns="0">
            <a:spAutoFit/>
          </a:bodyPr>
          <a:lstStyle/>
          <a:p>
            <a:pPr algn="l"/>
            <a:r>
              <a:rPr sz="1500" b="1">
                <a:solidFill>
                  <a:srgbClr val="1F1F1C"/>
                </a:solidFill>
                <a:latin typeface="Segoe UI"/>
              </a:rPr>
              <a:t>Product &amp; Release</a:t>
            </a:r>
          </a:p>
        </p:txBody>
      </p:sp>
      <p:sp>
        <p:nvSpPr>
          <p:cNvPr id="22" name="TextBox 21"/>
          <p:cNvSpPr txBox="1"/>
          <p:nvPr/>
        </p:nvSpPr>
        <p:spPr>
          <a:xfrm>
            <a:off x="3794760" y="4187952"/>
            <a:ext cx="4069080" cy="658368"/>
          </a:xfrm>
          <a:prstGeom prst="rect">
            <a:avLst/>
          </a:prstGeom>
          <a:noFill/>
        </p:spPr>
        <p:txBody>
          <a:bodyPr wrap="square" anchor="t" lIns="0" rIns="0" tIns="0" bIns="0">
            <a:spAutoFit/>
          </a:bodyPr>
          <a:lstStyle/>
          <a:p>
            <a:pPr algn="l">
              <a:lnSpc>
                <a:spcPct val="120000"/>
              </a:lnSpc>
            </a:pPr>
            <a:r>
              <a:rPr sz="1150" b="0">
                <a:solidFill>
                  <a:srgbClr val="66665F"/>
                </a:solidFill>
                <a:latin typeface="Segoe UI"/>
              </a:rPr>
              <a:t>Roadmap and epics · release readiness · product adoption · customer outcome measures</a:t>
            </a:r>
          </a:p>
        </p:txBody>
      </p:sp>
      <p:sp>
        <p:nvSpPr>
          <p:cNvPr id="23" name="Rectangle 22"/>
          <p:cNvSpPr/>
          <p:nvPr/>
        </p:nvSpPr>
        <p:spPr>
          <a:xfrm>
            <a:off x="594360" y="4846320"/>
            <a:ext cx="7863840"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 y="4974336"/>
            <a:ext cx="402336" cy="347472"/>
          </a:xfrm>
          <a:prstGeom prst="rect">
            <a:avLst/>
          </a:prstGeom>
          <a:solidFill>
            <a:srgbClr val="2440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974336"/>
            <a:ext cx="402336" cy="347472"/>
          </a:xfrm>
          <a:prstGeom prst="rect">
            <a:avLst/>
          </a:prstGeom>
          <a:noFill/>
        </p:spPr>
        <p:txBody>
          <a:bodyPr wrap="square" anchor="ctr" lIns="0" rIns="0" tIns="0" bIns="0">
            <a:spAutoFit/>
          </a:bodyPr>
          <a:lstStyle/>
          <a:p>
            <a:pPr algn="ctr"/>
            <a:r>
              <a:rPr sz="1300" b="1">
                <a:solidFill>
                  <a:srgbClr val="FFFFFF"/>
                </a:solidFill>
                <a:latin typeface="Segoe UI"/>
              </a:rPr>
              <a:t>5</a:t>
            </a:r>
          </a:p>
        </p:txBody>
      </p:sp>
      <p:sp>
        <p:nvSpPr>
          <p:cNvPr id="26" name="TextBox 25"/>
          <p:cNvSpPr txBox="1"/>
          <p:nvPr/>
        </p:nvSpPr>
        <p:spPr>
          <a:xfrm>
            <a:off x="1179576" y="4937760"/>
            <a:ext cx="2514600" cy="310896"/>
          </a:xfrm>
          <a:prstGeom prst="rect">
            <a:avLst/>
          </a:prstGeom>
          <a:noFill/>
        </p:spPr>
        <p:txBody>
          <a:bodyPr wrap="square" anchor="t" lIns="0" rIns="0" tIns="0" bIns="0">
            <a:spAutoFit/>
          </a:bodyPr>
          <a:lstStyle/>
          <a:p>
            <a:pPr algn="l"/>
            <a:r>
              <a:rPr sz="1500" b="1">
                <a:solidFill>
                  <a:srgbClr val="1F1F1C"/>
                </a:solidFill>
                <a:latin typeface="Segoe UI"/>
              </a:rPr>
              <a:t>Tasks</a:t>
            </a:r>
          </a:p>
        </p:txBody>
      </p:sp>
      <p:sp>
        <p:nvSpPr>
          <p:cNvPr id="27" name="TextBox 26"/>
          <p:cNvSpPr txBox="1"/>
          <p:nvPr/>
        </p:nvSpPr>
        <p:spPr>
          <a:xfrm>
            <a:off x="3794760" y="4956048"/>
            <a:ext cx="4069080" cy="658368"/>
          </a:xfrm>
          <a:prstGeom prst="rect">
            <a:avLst/>
          </a:prstGeom>
          <a:noFill/>
        </p:spPr>
        <p:txBody>
          <a:bodyPr wrap="square" anchor="t" lIns="0" rIns="0" tIns="0" bIns="0">
            <a:spAutoFit/>
          </a:bodyPr>
          <a:lstStyle/>
          <a:p>
            <a:pPr algn="l">
              <a:lnSpc>
                <a:spcPct val="120000"/>
              </a:lnSpc>
            </a:pPr>
            <a:r>
              <a:rPr sz="1150" b="0">
                <a:solidFill>
                  <a:srgbClr val="66665F"/>
                </a:solidFill>
                <a:latin typeface="Segoe UI"/>
              </a:rPr>
              <a:t>Every recent task with its PR (direct commits marked 'no PR') · search by title, author, branch or PR · filter by level and status</a:t>
            </a:r>
          </a:p>
        </p:txBody>
      </p:sp>
      <p:sp>
        <p:nvSpPr>
          <p:cNvPr id="28" name="Rectangle 27"/>
          <p:cNvSpPr/>
          <p:nvPr/>
        </p:nvSpPr>
        <p:spPr>
          <a:xfrm>
            <a:off x="8229600" y="1847088"/>
            <a:ext cx="3364992" cy="3803904"/>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3920" y="2103120"/>
            <a:ext cx="2834640" cy="274320"/>
          </a:xfrm>
          <a:prstGeom prst="rect">
            <a:avLst/>
          </a:prstGeom>
          <a:noFill/>
        </p:spPr>
        <p:txBody>
          <a:bodyPr wrap="square" anchor="t" lIns="0" rIns="0" tIns="0" bIns="0">
            <a:spAutoFit/>
          </a:bodyPr>
          <a:lstStyle/>
          <a:p>
            <a:pPr algn="l"/>
            <a:r>
              <a:rPr sz="1050" b="1">
                <a:solidFill>
                  <a:srgbClr val="CADCFC"/>
                </a:solidFill>
                <a:latin typeface="Consolas"/>
              </a:rPr>
              <a:t>BUILT FOR SHARING</a:t>
            </a:r>
          </a:p>
        </p:txBody>
      </p:sp>
      <p:sp>
        <p:nvSpPr>
          <p:cNvPr id="30" name="TextBox 29"/>
          <p:cNvSpPr txBox="1"/>
          <p:nvPr/>
        </p:nvSpPr>
        <p:spPr>
          <a:xfrm>
            <a:off x="8503920" y="2468880"/>
            <a:ext cx="2852928" cy="2011680"/>
          </a:xfrm>
          <a:prstGeom prst="rect">
            <a:avLst/>
          </a:prstGeom>
          <a:noFill/>
        </p:spPr>
        <p:txBody>
          <a:bodyPr wrap="square" anchor="t" lIns="0" rIns="0" tIns="0" bIns="0">
            <a:spAutoFit/>
          </a:bodyPr>
          <a:lstStyle/>
          <a:p>
            <a:pPr algn="l">
              <a:lnSpc>
                <a:spcPct val="126000"/>
              </a:lnSpc>
            </a:pPr>
            <a:r>
              <a:rPr sz="1150" b="0">
                <a:solidFill>
                  <a:srgbClr val="CADCFC"/>
                </a:solidFill>
                <a:latin typeface="Segoe UI"/>
              </a:rPr>
              <a:t>Each tab has its own URL fragment — send a colleague straight to the tab you mean.</a:t>
            </a:r>
          </a:p>
          <a:p>
            <a:pPr algn="l">
              <a:lnSpc>
                <a:spcPct val="126000"/>
              </a:lnSpc>
            </a:pPr>
            <a:r>
              <a:rPr sz="1150" b="0">
                <a:solidFill>
                  <a:srgbClr val="CADCFC"/>
                </a:solidFill>
                <a:latin typeface="Segoe UI"/>
              </a:rPr>
              <a:t/>
            </a:r>
          </a:p>
          <a:p>
            <a:pPr algn="l">
              <a:lnSpc>
                <a:spcPct val="126000"/>
              </a:lnSpc>
            </a:pPr>
            <a:r>
              <a:rPr sz="1150" b="0">
                <a:solidFill>
                  <a:srgbClr val="CADCFC"/>
                </a:solidFill>
                <a:latin typeface="Segoe UI"/>
              </a:rPr>
              <a:t>Filters are independent of it, so 'this person, on the quality tab' is one link.</a:t>
            </a:r>
          </a:p>
          <a:p>
            <a:pPr algn="l">
              <a:lnSpc>
                <a:spcPct val="126000"/>
              </a:lnSpc>
            </a:pPr>
            <a:r>
              <a:rPr sz="1150" b="0">
                <a:solidFill>
                  <a:srgbClr val="CADCFC"/>
                </a:solidFill>
                <a:latin typeface="Segoe UI"/>
              </a:rPr>
              <a:t/>
            </a:r>
          </a:p>
          <a:p>
            <a:pPr algn="l">
              <a:lnSpc>
                <a:spcPct val="126000"/>
              </a:lnSpc>
            </a:pPr>
            <a:r>
              <a:rPr sz="1150" b="0">
                <a:solidFill>
                  <a:srgbClr val="CADCFC"/>
                </a:solidFill>
                <a:latin typeface="Segoe UI"/>
              </a:rPr>
              <a:t>Printing overrides the tabs and lays all five panels out as a single report.</a:t>
            </a:r>
          </a:p>
        </p:txBody>
      </p:sp>
      <p:sp>
        <p:nvSpPr>
          <p:cNvPr id="31" name="TextBox 30"/>
          <p:cNvSpPr txBox="1"/>
          <p:nvPr/>
        </p:nvSpPr>
        <p:spPr>
          <a:xfrm>
            <a:off x="8503920" y="4974336"/>
            <a:ext cx="2852928" cy="731520"/>
          </a:xfrm>
          <a:prstGeom prst="rect">
            <a:avLst/>
          </a:prstGeom>
          <a:noFill/>
        </p:spPr>
        <p:txBody>
          <a:bodyPr wrap="square" anchor="t" lIns="0" rIns="0" tIns="0" bIns="0">
            <a:spAutoFit/>
          </a:bodyPr>
          <a:lstStyle/>
          <a:p>
            <a:pPr algn="l">
              <a:lnSpc>
                <a:spcPct val="126000"/>
              </a:lnSpc>
            </a:pPr>
            <a:r>
              <a:rPr sz="1150" b="1">
                <a:solidFill>
                  <a:srgbClr val="FFFFFF"/>
                </a:solidFill>
                <a:latin typeface="Segoe UI"/>
              </a:rPr>
              <a:t>Demo mode carries a visible badge, so sample data is never mistaken for live data.</a:t>
            </a:r>
          </a:p>
        </p:txBody>
      </p:sp>
      <p:sp>
        <p:nvSpPr>
          <p:cNvPr id="32" name="TextBox 31"/>
          <p:cNvSpPr txBox="1"/>
          <p:nvPr/>
        </p:nvSpPr>
        <p:spPr>
          <a:xfrm>
            <a:off x="594360" y="5888736"/>
            <a:ext cx="11000232" cy="365760"/>
          </a:xfrm>
          <a:prstGeom prst="rect">
            <a:avLst/>
          </a:prstGeom>
          <a:noFill/>
        </p:spPr>
        <p:txBody>
          <a:bodyPr wrap="square" anchor="t" lIns="0" rIns="0" tIns="0" bIns="0">
            <a:spAutoFit/>
          </a:bodyPr>
          <a:lstStyle/>
          <a:p>
            <a:pPr algn="l"/>
            <a:r>
              <a:rPr sz="1300" b="1">
                <a:solidFill>
                  <a:srgbClr val="1F1F1C"/>
                </a:solidFill>
                <a:latin typeface="Segoe UI"/>
              </a:rPr>
              <a:t>The scope side is deliberately low-ceremony — GitHub issues with milestones if the team uses them, or a plan.md with dated checkboxes if it does not.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84048"/>
            <a:ext cx="11000232" cy="685800"/>
          </a:xfrm>
          <a:prstGeom prst="rect">
            <a:avLst/>
          </a:prstGeom>
          <a:noFill/>
        </p:spPr>
        <p:txBody>
          <a:bodyPr wrap="square" anchor="t" lIns="0" rIns="0" tIns="0" bIns="0">
            <a:spAutoFit/>
          </a:bodyPr>
          <a:lstStyle/>
          <a:p>
            <a:pPr algn="l"/>
            <a:r>
              <a:rPr sz="3000" b="1">
                <a:solidFill>
                  <a:srgbClr val="1F1F1C"/>
                </a:solidFill>
                <a:latin typeface="Segoe UI"/>
              </a:rPr>
              <a:t>The loop closes</a:t>
            </a:r>
          </a:p>
        </p:txBody>
      </p:sp>
      <p:sp>
        <p:nvSpPr>
          <p:cNvPr id="3" name="TextBox 2"/>
          <p:cNvSpPr txBox="1"/>
          <p:nvPr/>
        </p:nvSpPr>
        <p:spPr>
          <a:xfrm>
            <a:off x="594360" y="1042415"/>
            <a:ext cx="11000232" cy="365760"/>
          </a:xfrm>
          <a:prstGeom prst="rect">
            <a:avLst/>
          </a:prstGeom>
          <a:noFill/>
        </p:spPr>
        <p:txBody>
          <a:bodyPr wrap="square" anchor="t" lIns="0" rIns="0" tIns="0" bIns="0">
            <a:spAutoFit/>
          </a:bodyPr>
          <a:lstStyle/>
          <a:p>
            <a:pPr algn="l"/>
            <a:r>
              <a:rPr sz="1300" b="0">
                <a:solidFill>
                  <a:srgbClr val="66665F"/>
                </a:solidFill>
                <a:latin typeface="Segoe UI"/>
              </a:rPr>
              <a:t>Each layer produces what the next one needs — which is the only reason any of it holds</a:t>
            </a:r>
          </a:p>
        </p:txBody>
      </p:sp>
      <p:sp>
        <p:nvSpPr>
          <p:cNvPr id="4" name="Rectangle 3"/>
          <p:cNvSpPr/>
          <p:nvPr/>
        </p:nvSpPr>
        <p:spPr>
          <a:xfrm>
            <a:off x="594360" y="1901952"/>
            <a:ext cx="2487168" cy="1188720"/>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2121408"/>
            <a:ext cx="2103120" cy="310896"/>
          </a:xfrm>
          <a:prstGeom prst="rect">
            <a:avLst/>
          </a:prstGeom>
          <a:noFill/>
        </p:spPr>
        <p:txBody>
          <a:bodyPr wrap="square" anchor="t" lIns="0" rIns="0" tIns="0" bIns="0">
            <a:spAutoFit/>
          </a:bodyPr>
          <a:lstStyle/>
          <a:p>
            <a:pPr algn="l"/>
            <a:r>
              <a:rPr sz="1500" b="1">
                <a:solidFill>
                  <a:srgbClr val="FFFFFF"/>
                </a:solidFill>
                <a:latin typeface="Segoe UI"/>
              </a:rPr>
              <a:t>The rules</a:t>
            </a:r>
          </a:p>
        </p:txBody>
      </p:sp>
      <p:sp>
        <p:nvSpPr>
          <p:cNvPr id="6" name="TextBox 5"/>
          <p:cNvSpPr txBox="1"/>
          <p:nvPr/>
        </p:nvSpPr>
        <p:spPr>
          <a:xfrm>
            <a:off x="813816" y="2468880"/>
            <a:ext cx="2103120" cy="512064"/>
          </a:xfrm>
          <a:prstGeom prst="rect">
            <a:avLst/>
          </a:prstGeom>
          <a:noFill/>
        </p:spPr>
        <p:txBody>
          <a:bodyPr wrap="square" anchor="t" lIns="0" rIns="0" tIns="0" bIns="0">
            <a:spAutoFit/>
          </a:bodyPr>
          <a:lstStyle/>
          <a:p>
            <a:pPr algn="l">
              <a:lnSpc>
                <a:spcPct val="120000"/>
              </a:lnSpc>
            </a:pPr>
            <a:r>
              <a:rPr sz="1200" b="0">
                <a:solidFill>
                  <a:srgbClr val="CADCFC"/>
                </a:solidFill>
                <a:latin typeface="Segoe UI"/>
              </a:rPr>
              <a:t>make the agent leave a trail</a:t>
            </a:r>
          </a:p>
        </p:txBody>
      </p:sp>
      <p:sp>
        <p:nvSpPr>
          <p:cNvPr id="7" name="TextBox 6"/>
          <p:cNvSpPr txBox="1"/>
          <p:nvPr/>
        </p:nvSpPr>
        <p:spPr>
          <a:xfrm>
            <a:off x="3081528" y="1901952"/>
            <a:ext cx="365760" cy="1188720"/>
          </a:xfrm>
          <a:prstGeom prst="rect">
            <a:avLst/>
          </a:prstGeom>
          <a:noFill/>
        </p:spPr>
        <p:txBody>
          <a:bodyPr wrap="square" anchor="ctr" lIns="0" rIns="0" tIns="0" bIns="0">
            <a:spAutoFit/>
          </a:bodyPr>
          <a:lstStyle/>
          <a:p>
            <a:pPr algn="ctr"/>
            <a:r>
              <a:rPr sz="1600" b="1">
                <a:solidFill>
                  <a:srgbClr val="9A9A93"/>
                </a:solidFill>
                <a:latin typeface="Segoe UI"/>
              </a:rPr>
              <a:t>→</a:t>
            </a:r>
          </a:p>
        </p:txBody>
      </p:sp>
      <p:sp>
        <p:nvSpPr>
          <p:cNvPr id="8" name="Rectangle 7"/>
          <p:cNvSpPr/>
          <p:nvPr/>
        </p:nvSpPr>
        <p:spPr>
          <a:xfrm>
            <a:off x="3447288" y="1901952"/>
            <a:ext cx="2487168" cy="11887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6744" y="2121408"/>
            <a:ext cx="2103120" cy="310896"/>
          </a:xfrm>
          <a:prstGeom prst="rect">
            <a:avLst/>
          </a:prstGeom>
          <a:noFill/>
        </p:spPr>
        <p:txBody>
          <a:bodyPr wrap="square" anchor="t" lIns="0" rIns="0" tIns="0" bIns="0">
            <a:spAutoFit/>
          </a:bodyPr>
          <a:lstStyle/>
          <a:p>
            <a:pPr algn="l"/>
            <a:r>
              <a:rPr sz="1500" b="1">
                <a:solidFill>
                  <a:srgbClr val="1F1F1C"/>
                </a:solidFill>
                <a:latin typeface="Segoe UI"/>
              </a:rPr>
              <a:t>The trail</a:t>
            </a:r>
          </a:p>
        </p:txBody>
      </p:sp>
      <p:sp>
        <p:nvSpPr>
          <p:cNvPr id="10" name="TextBox 9"/>
          <p:cNvSpPr txBox="1"/>
          <p:nvPr/>
        </p:nvSpPr>
        <p:spPr>
          <a:xfrm>
            <a:off x="3666744" y="2468880"/>
            <a:ext cx="2103120" cy="512064"/>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is what the gate checks</a:t>
            </a:r>
          </a:p>
        </p:txBody>
      </p:sp>
      <p:sp>
        <p:nvSpPr>
          <p:cNvPr id="11" name="TextBox 10"/>
          <p:cNvSpPr txBox="1"/>
          <p:nvPr/>
        </p:nvSpPr>
        <p:spPr>
          <a:xfrm>
            <a:off x="5934456" y="1901952"/>
            <a:ext cx="365760" cy="1188720"/>
          </a:xfrm>
          <a:prstGeom prst="rect">
            <a:avLst/>
          </a:prstGeom>
          <a:noFill/>
        </p:spPr>
        <p:txBody>
          <a:bodyPr wrap="square" anchor="ctr" lIns="0" rIns="0" tIns="0" bIns="0">
            <a:spAutoFit/>
          </a:bodyPr>
          <a:lstStyle/>
          <a:p>
            <a:pPr algn="ctr"/>
            <a:r>
              <a:rPr sz="1600" b="1">
                <a:solidFill>
                  <a:srgbClr val="9A9A93"/>
                </a:solidFill>
                <a:latin typeface="Segoe UI"/>
              </a:rPr>
              <a:t>→</a:t>
            </a:r>
          </a:p>
        </p:txBody>
      </p:sp>
      <p:sp>
        <p:nvSpPr>
          <p:cNvPr id="12" name="Rectangle 11"/>
          <p:cNvSpPr/>
          <p:nvPr/>
        </p:nvSpPr>
        <p:spPr>
          <a:xfrm>
            <a:off x="6300216" y="1901952"/>
            <a:ext cx="2487168" cy="1188720"/>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2121408"/>
            <a:ext cx="2103120" cy="310896"/>
          </a:xfrm>
          <a:prstGeom prst="rect">
            <a:avLst/>
          </a:prstGeom>
          <a:noFill/>
        </p:spPr>
        <p:txBody>
          <a:bodyPr wrap="square" anchor="t" lIns="0" rIns="0" tIns="0" bIns="0">
            <a:spAutoFit/>
          </a:bodyPr>
          <a:lstStyle/>
          <a:p>
            <a:pPr algn="l"/>
            <a:r>
              <a:rPr sz="1500" b="1">
                <a:solidFill>
                  <a:srgbClr val="FFFFFF"/>
                </a:solidFill>
                <a:latin typeface="Segoe UI"/>
              </a:rPr>
              <a:t>The gate</a:t>
            </a:r>
          </a:p>
        </p:txBody>
      </p:sp>
      <p:sp>
        <p:nvSpPr>
          <p:cNvPr id="14" name="TextBox 13"/>
          <p:cNvSpPr txBox="1"/>
          <p:nvPr/>
        </p:nvSpPr>
        <p:spPr>
          <a:xfrm>
            <a:off x="6519672" y="2468880"/>
            <a:ext cx="2103120" cy="512064"/>
          </a:xfrm>
          <a:prstGeom prst="rect">
            <a:avLst/>
          </a:prstGeom>
          <a:noFill/>
        </p:spPr>
        <p:txBody>
          <a:bodyPr wrap="square" anchor="t" lIns="0" rIns="0" tIns="0" bIns="0">
            <a:spAutoFit/>
          </a:bodyPr>
          <a:lstStyle/>
          <a:p>
            <a:pPr algn="l">
              <a:lnSpc>
                <a:spcPct val="120000"/>
              </a:lnSpc>
            </a:pPr>
            <a:r>
              <a:rPr sz="1200" b="0">
                <a:solidFill>
                  <a:srgbClr val="CADCFC"/>
                </a:solidFill>
                <a:latin typeface="Segoe UI"/>
              </a:rPr>
              <a:t>is what the dashboard measures</a:t>
            </a:r>
          </a:p>
        </p:txBody>
      </p:sp>
      <p:sp>
        <p:nvSpPr>
          <p:cNvPr id="15" name="TextBox 14"/>
          <p:cNvSpPr txBox="1"/>
          <p:nvPr/>
        </p:nvSpPr>
        <p:spPr>
          <a:xfrm>
            <a:off x="8787384" y="1901952"/>
            <a:ext cx="365760" cy="1188720"/>
          </a:xfrm>
          <a:prstGeom prst="rect">
            <a:avLst/>
          </a:prstGeom>
          <a:noFill/>
        </p:spPr>
        <p:txBody>
          <a:bodyPr wrap="square" anchor="ctr" lIns="0" rIns="0" tIns="0" bIns="0">
            <a:spAutoFit/>
          </a:bodyPr>
          <a:lstStyle/>
          <a:p>
            <a:pPr algn="ctr"/>
            <a:r>
              <a:rPr sz="1600" b="1">
                <a:solidFill>
                  <a:srgbClr val="9A9A93"/>
                </a:solidFill>
                <a:latin typeface="Segoe UI"/>
              </a:rPr>
              <a:t>→</a:t>
            </a:r>
          </a:p>
        </p:txBody>
      </p:sp>
      <p:sp>
        <p:nvSpPr>
          <p:cNvPr id="16" name="Rectangle 15"/>
          <p:cNvSpPr/>
          <p:nvPr/>
        </p:nvSpPr>
        <p:spPr>
          <a:xfrm>
            <a:off x="9153144" y="1901952"/>
            <a:ext cx="2487168" cy="11887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72600" y="2121408"/>
            <a:ext cx="2103120" cy="310896"/>
          </a:xfrm>
          <a:prstGeom prst="rect">
            <a:avLst/>
          </a:prstGeom>
          <a:noFill/>
        </p:spPr>
        <p:txBody>
          <a:bodyPr wrap="square" anchor="t" lIns="0" rIns="0" tIns="0" bIns="0">
            <a:spAutoFit/>
          </a:bodyPr>
          <a:lstStyle/>
          <a:p>
            <a:pPr algn="l"/>
            <a:r>
              <a:rPr sz="1500" b="1">
                <a:solidFill>
                  <a:srgbClr val="1F1F1C"/>
                </a:solidFill>
                <a:latin typeface="Segoe UI"/>
              </a:rPr>
              <a:t>The dashboard</a:t>
            </a:r>
          </a:p>
        </p:txBody>
      </p:sp>
      <p:sp>
        <p:nvSpPr>
          <p:cNvPr id="18" name="TextBox 17"/>
          <p:cNvSpPr txBox="1"/>
          <p:nvPr/>
        </p:nvSpPr>
        <p:spPr>
          <a:xfrm>
            <a:off x="9372600" y="2468880"/>
            <a:ext cx="2103120" cy="512064"/>
          </a:xfrm>
          <a:prstGeom prst="rect">
            <a:avLst/>
          </a:prstGeom>
          <a:noFill/>
        </p:spPr>
        <p:txBody>
          <a:bodyPr wrap="square" anchor="t" lIns="0" rIns="0" tIns="0" bIns="0">
            <a:spAutoFit/>
          </a:bodyPr>
          <a:lstStyle/>
          <a:p>
            <a:pPr algn="l">
              <a:lnSpc>
                <a:spcPct val="120000"/>
              </a:lnSpc>
            </a:pPr>
            <a:r>
              <a:rPr sz="1200" b="0">
                <a:solidFill>
                  <a:srgbClr val="66665F"/>
                </a:solidFill>
                <a:latin typeface="Segoe UI"/>
              </a:rPr>
              <a:t>tells us which rule to change next</a:t>
            </a:r>
          </a:p>
        </p:txBody>
      </p:sp>
      <p:sp>
        <p:nvSpPr>
          <p:cNvPr id="19" name="Rectangle 18"/>
          <p:cNvSpPr/>
          <p:nvPr/>
        </p:nvSpPr>
        <p:spPr>
          <a:xfrm>
            <a:off x="594360" y="3419856"/>
            <a:ext cx="11000232" cy="11887"/>
          </a:xfrm>
          <a:prstGeom prst="rect">
            <a:avLst/>
          </a:prstGeom>
          <a:solidFill>
            <a:srgbClr val="E2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621024"/>
            <a:ext cx="5349240" cy="310896"/>
          </a:xfrm>
          <a:prstGeom prst="rect">
            <a:avLst/>
          </a:prstGeom>
          <a:noFill/>
        </p:spPr>
        <p:txBody>
          <a:bodyPr wrap="square" anchor="t" lIns="0" rIns="0" tIns="0" bIns="0">
            <a:spAutoFit/>
          </a:bodyPr>
          <a:lstStyle/>
          <a:p>
            <a:pPr algn="l"/>
            <a:r>
              <a:rPr sz="1600" b="1">
                <a:solidFill>
                  <a:srgbClr val="1F1F1C"/>
                </a:solidFill>
                <a:latin typeface="Segoe UI"/>
              </a:rPr>
              <a:t>To adopt it on a project</a:t>
            </a:r>
          </a:p>
        </p:txBody>
      </p:sp>
      <p:sp>
        <p:nvSpPr>
          <p:cNvPr id="21" name="TextBox 20"/>
          <p:cNvSpPr txBox="1"/>
          <p:nvPr/>
        </p:nvSpPr>
        <p:spPr>
          <a:xfrm>
            <a:off x="594360" y="3968496"/>
            <a:ext cx="5349240" cy="1737360"/>
          </a:xfrm>
          <a:prstGeom prst="rect">
            <a:avLst/>
          </a:prstGeom>
          <a:noFill/>
        </p:spPr>
        <p:txBody>
          <a:bodyPr wrap="square" anchor="t" lIns="0" rIns="0" tIns="0" bIns="0">
            <a:spAutoFit/>
          </a:bodyPr>
          <a:lstStyle/>
          <a:p>
            <a:pPr algn="l">
              <a:lnSpc>
                <a:spcPct val="120000"/>
              </a:lnSpc>
              <a:spcAft>
                <a:spcPts val="600"/>
              </a:spcAft>
            </a:pPr>
            <a:r>
              <a:rPr sz="1250" b="0">
                <a:solidFill>
                  <a:srgbClr val="66665F"/>
                </a:solidFill>
                <a:latin typeface="Segoe UI"/>
              </a:rPr>
              <a:t>1.   Copy the rule files — the workflow arrives with them</a:t>
            </a:r>
          </a:p>
          <a:p>
            <a:pPr algn="l">
              <a:lnSpc>
                <a:spcPct val="120000"/>
              </a:lnSpc>
              <a:spcAft>
                <a:spcPts val="600"/>
              </a:spcAft>
            </a:pPr>
            <a:r>
              <a:rPr sz="1250" b="0">
                <a:solidFill>
                  <a:srgbClr val="66665F"/>
                </a:solidFill>
                <a:latin typeface="Segoe UI"/>
              </a:rPr>
              <a:t>2.   Add a CLAUDE.md with the repo's own hard rules</a:t>
            </a:r>
          </a:p>
          <a:p>
            <a:pPr algn="l">
              <a:lnSpc>
                <a:spcPct val="120000"/>
              </a:lnSpc>
              <a:spcAft>
                <a:spcPts val="600"/>
              </a:spcAft>
            </a:pPr>
            <a:r>
              <a:rPr sz="1250" b="0">
                <a:solidFill>
                  <a:srgbClr val="66665F"/>
                </a:solidFill>
                <a:latin typeface="Segoe UI"/>
              </a:rPr>
              <a:t>3.   Turn on the branch ruleset and the three checks</a:t>
            </a:r>
          </a:p>
          <a:p>
            <a:pPr algn="l">
              <a:lnSpc>
                <a:spcPct val="120000"/>
              </a:lnSpc>
              <a:spcAft>
                <a:spcPts val="600"/>
              </a:spcAft>
            </a:pPr>
            <a:r>
              <a:rPr sz="1250" b="0">
                <a:solidFill>
                  <a:srgbClr val="66665F"/>
                </a:solidFill>
                <a:latin typeface="Segoe UI"/>
              </a:rPr>
              <a:t>4.   Add the repo to config.toml — a few lines, and it is on the dashboard</a:t>
            </a:r>
          </a:p>
        </p:txBody>
      </p:sp>
      <p:sp>
        <p:nvSpPr>
          <p:cNvPr id="22" name="TextBox 21"/>
          <p:cNvSpPr txBox="1"/>
          <p:nvPr/>
        </p:nvSpPr>
        <p:spPr>
          <a:xfrm>
            <a:off x="6199632" y="3621024"/>
            <a:ext cx="5394960" cy="310896"/>
          </a:xfrm>
          <a:prstGeom prst="rect">
            <a:avLst/>
          </a:prstGeom>
          <a:noFill/>
        </p:spPr>
        <p:txBody>
          <a:bodyPr wrap="square" anchor="t" lIns="0" rIns="0" tIns="0" bIns="0">
            <a:spAutoFit/>
          </a:bodyPr>
          <a:lstStyle/>
          <a:p>
            <a:pPr algn="l"/>
            <a:r>
              <a:rPr sz="1600" b="1">
                <a:solidFill>
                  <a:srgbClr val="1F1F1C"/>
                </a:solidFill>
                <a:latin typeface="Segoe UI"/>
              </a:rPr>
              <a:t>What we are honest about</a:t>
            </a:r>
          </a:p>
        </p:txBody>
      </p:sp>
      <p:sp>
        <p:nvSpPr>
          <p:cNvPr id="23" name="TextBox 22"/>
          <p:cNvSpPr txBox="1"/>
          <p:nvPr/>
        </p:nvSpPr>
        <p:spPr>
          <a:xfrm>
            <a:off x="6199632" y="3968496"/>
            <a:ext cx="5394960" cy="1737360"/>
          </a:xfrm>
          <a:prstGeom prst="rect">
            <a:avLst/>
          </a:prstGeom>
          <a:noFill/>
        </p:spPr>
        <p:txBody>
          <a:bodyPr wrap="square" anchor="t" lIns="0" rIns="0" tIns="0" bIns="0">
            <a:spAutoFit/>
          </a:bodyPr>
          <a:lstStyle/>
          <a:p>
            <a:pPr algn="l">
              <a:lnSpc>
                <a:spcPct val="120000"/>
              </a:lnSpc>
              <a:spcAft>
                <a:spcPts val="600"/>
              </a:spcAft>
            </a:pPr>
            <a:r>
              <a:rPr sz="1200" b="0">
                <a:solidFill>
                  <a:srgbClr val="66665F"/>
                </a:solidFill>
                <a:latin typeface="Segoe UI"/>
              </a:rPr>
              <a:t>—   Small samples move percentages a lot. Read the trend, not the point.</a:t>
            </a:r>
          </a:p>
          <a:p>
            <a:pPr algn="l">
              <a:lnSpc>
                <a:spcPct val="120000"/>
              </a:lnSpc>
              <a:spcAft>
                <a:spcPts val="600"/>
              </a:spcAft>
            </a:pPr>
            <a:r>
              <a:rPr sz="1200" b="0">
                <a:solidFill>
                  <a:srgbClr val="66665F"/>
                </a:solidFill>
                <a:latin typeface="Segoe UI"/>
              </a:rPr>
              <a:t>—   It measures how work was done, not whether the code is good. Coverage and scanning cover that.</a:t>
            </a:r>
          </a:p>
          <a:p>
            <a:pPr algn="l">
              <a:lnSpc>
                <a:spcPct val="120000"/>
              </a:lnSpc>
              <a:spcAft>
                <a:spcPts val="600"/>
              </a:spcAft>
            </a:pPr>
            <a:r>
              <a:rPr sz="1200" b="0">
                <a:solidFill>
                  <a:srgbClr val="66665F"/>
                </a:solidFill>
                <a:latin typeface="Segoe UI"/>
              </a:rPr>
              <a:t>—   Any metric can be gamed once it becomes a target. Cross-checks catch some of it; the norm catches the rest.</a:t>
            </a:r>
          </a:p>
        </p:txBody>
      </p:sp>
      <p:sp>
        <p:nvSpPr>
          <p:cNvPr id="24" name="Rectangle 23"/>
          <p:cNvSpPr/>
          <p:nvPr/>
        </p:nvSpPr>
        <p:spPr>
          <a:xfrm>
            <a:off x="594360" y="5742432"/>
            <a:ext cx="11000232" cy="749808"/>
          </a:xfrm>
          <a:prstGeom prst="rect">
            <a:avLst/>
          </a:prstGeom>
          <a:solidFill>
            <a:srgbClr val="162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68" y="5870448"/>
            <a:ext cx="10424160" cy="457200"/>
          </a:xfrm>
          <a:prstGeom prst="rect">
            <a:avLst/>
          </a:prstGeom>
          <a:noFill/>
        </p:spPr>
        <p:txBody>
          <a:bodyPr wrap="square" anchor="t" lIns="0" rIns="0" tIns="0" bIns="0">
            <a:spAutoFit/>
          </a:bodyPr>
          <a:lstStyle/>
          <a:p>
            <a:pPr algn="l">
              <a:lnSpc>
                <a:spcPct val="120000"/>
              </a:lnSpc>
            </a:pPr>
            <a:r>
              <a:rPr sz="1500" b="1">
                <a:solidFill>
                  <a:srgbClr val="FFFFFF"/>
                </a:solidFill>
                <a:latin typeface="Segoe UI"/>
              </a:rPr>
              <a:t>We did not make the team follow a process. We made the process the only path the work can take — and then measured whether that was true.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